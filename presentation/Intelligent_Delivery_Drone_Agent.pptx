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One line: our drone agent perceives its environment, reasons about routes and delivery order, decides what to do, and acts. It only uses classical AI techniques. The picture is one of our real simulation runs (4 deliveries).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professor's question 1. Real delivery drones face restricted airspace, weather and battery limits, and they have to serve more than one stop. Our project solves this on a grid world using classical search. The goal is the lowest total cost with no battery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2. The agent operates in a 2D grid. Cells are free, no-fly, or wind. The picture is our medium scenario: a wall of no-fly cells, a wind band, and a patch blowing north. A step never costs less than 1, which is what lets Manhattan distance be an admissible heuristic for A*. We ran 5 scenarios from 8x8 up to 16x16.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3. At every step the drone knows its position, its battery, which packages it carries, the full map including wind vectors, and the list of pending delivery requests with pickup and drop-off locations. Everything is known up front, so the agent plans instead of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4. Low-level decisions every step: move in one of four directions, pick up, drop off, return to the depot. High-level decisions: which delivery to serve next, which route to take, and whether the battery is enough for the next leg plus the way home. If it is not enough, the drone recharges first. That is how we get zero battery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5. A* does the path planning with Manhattan distance as the heuristic. UCS is the baseline: same cost function, so if A* gives the same cost as UCS the heuristic is working. Nearest Neighbor chooses the delivery order and 2-opt tries to improve it without ever breaking pickup-before-drop-off. Brute force is only used on small missions to see how far the heuristics are from the true best order. No ML, DL or 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then the second row right to left. Top row is planning: requests go to Nearest Neighbor, then 2-opt tries to improve the order, giving an ordered list of stops where each pickup comes before its drop-off. Bottom row is execution: before each leg the drone checks the battery covers the leg plus the way home, A* plans the path, the drone flies it and picks up or drops off, and at the end it returns to the depot. If the battery check fails, it goes to the depot to recharge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of our own simulator output, not mock-ups. Left: the recharge scenario. The numbers on the map show the order of stops. After stop 5 the drone realises it cannot finish the last delivery on 7 units of battery, so it flies home, recharges, then delivers package A. Right: the same map with and without a headwind band. With wind the outbound path goes around the band, but on the way back the same wind is a tailwind so the drone flies straight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6. Our six metrics are total mission cost, deliveries completed, average delivery time, path optimality gap, computation time and battery violations. All numbers come from results/experiment_results.csv. Across all scenarios the drone completed 13 of 13 deliveries with 0 battery violations. The path optimality gap compares A* with UCS and is 0% on every leg, which confirms A* is optimal here. A* expanded 1869 nodes versus 5075 for UCS, about 63% fewer. For delivery order, Nearest Neighbor plus 2-opt matched the brute-force optimum in 4 of 5 scenarios; in the medium windy scenario it was 5.7% above the best order (74 versus 70). Computation time depends on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Everything ran with no machine learning. All 13 deliveries completed across the five scenarios, no battery violations, and A* matched the UCS optimum on every leg while expanding about 63% fewer nodes. Be honest about the limits: 2-opt is a heuristic, and in the medium windy scenario it was stuck 5.7% above the true best order. Future scope: dynamic wind and sensors, priorities, capacity and multiple drones, 3D airspace, and stronger tour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548640" y="822960"/>
            <a:ext cx="4846320" cy="13716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Intelligent Delivery Drone Agent</a:t>
            </a:r>
            <a:endParaRPr lang="en-US" sz="3800" dirty="0"/>
          </a:p>
        </p:txBody>
      </p:sp>
      <p:sp>
        <p:nvSpPr>
          <p:cNvPr id="3" name="Text 1"/>
          <p:cNvSpPr txBox="1"/>
          <p:nvPr/>
        </p:nvSpPr>
        <p:spPr>
          <a:xfrm>
            <a:off x="548640" y="2286000"/>
            <a:ext cx="4754880" cy="640080"/>
          </a:xfrm>
          <a:prstGeom prst="rect">
            <a:avLst/>
          </a:prstGeom>
          <a:noFill/>
          <a:ln/>
        </p:spPr>
        <p:txBody>
          <a:bodyPr wrap="square" lIns="0" tIns="0" rIns="0" bIns="0" rtlCol="0" anchor="t"/>
          <a:lstStyle/>
          <a:p>
            <a:pPr indent="0" marL="0">
              <a:buNone/>
            </a:pPr>
            <a:r>
              <a:rPr lang="en-US" sz="1800" dirty="0">
                <a:solidFill>
                  <a:srgbClr val="BFD4E4"/>
                </a:solidFill>
                <a:latin typeface="Calibri" pitchFamily="34" charset="0"/>
                <a:ea typeface="Calibri" pitchFamily="34" charset="-122"/>
                <a:cs typeface="Calibri" pitchFamily="34" charset="-120"/>
              </a:rPr>
              <a:t>Grid-based path planning with wind and no-fly zones</a:t>
            </a:r>
            <a:endParaRPr lang="en-US" sz="1800" dirty="0"/>
          </a:p>
        </p:txBody>
      </p:sp>
      <p:sp>
        <p:nvSpPr>
          <p:cNvPr id="4" name="Text 2"/>
          <p:cNvSpPr txBox="1"/>
          <p:nvPr/>
        </p:nvSpPr>
        <p:spPr>
          <a:xfrm>
            <a:off x="548640" y="3154680"/>
            <a:ext cx="4754880" cy="365760"/>
          </a:xfrm>
          <a:prstGeom prst="rect">
            <a:avLst/>
          </a:prstGeom>
          <a:noFill/>
          <a:ln/>
        </p:spPr>
        <p:txBody>
          <a:bodyPr wrap="square" lIns="0" tIns="0" rIns="0" bIns="0" rtlCol="0" anchor="ctr"/>
          <a:lstStyle/>
          <a:p>
            <a:pPr indent="0" marL="0">
              <a:buNone/>
            </a:pPr>
            <a:r>
              <a:rPr lang="en-US" sz="1800" b="1" dirty="0">
                <a:solidFill>
                  <a:srgbClr val="F4A259"/>
                </a:solidFill>
                <a:latin typeface="Calibri" pitchFamily="34" charset="0"/>
                <a:ea typeface="Calibri" pitchFamily="34" charset="-122"/>
                <a:cs typeface="Calibri" pitchFamily="34" charset="-120"/>
              </a:rPr>
              <a:t>Team 2_brain_cells</a:t>
            </a:r>
            <a:endParaRPr lang="en-US" sz="1800" dirty="0"/>
          </a:p>
        </p:txBody>
      </p:sp>
      <p:sp>
        <p:nvSpPr>
          <p:cNvPr id="5" name="Text 3"/>
          <p:cNvSpPr txBox="1"/>
          <p:nvPr/>
        </p:nvSpPr>
        <p:spPr>
          <a:xfrm>
            <a:off x="548640" y="3566160"/>
            <a:ext cx="4754880" cy="914400"/>
          </a:xfrm>
          <a:prstGeom prst="rect">
            <a:avLst/>
          </a:prstGeom>
          <a:noFill/>
          <a:ln/>
        </p:spPr>
        <p:txBody>
          <a:bodyPr wrap="square" lIns="0" tIns="0" rIns="0" bIns="0" rtlCol="0" anchor="t"/>
          <a:lstStyle/>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Shawn B Mathan   AM.SC.U4AIE25147</a:t>
            </a:r>
            <a:endParaRPr lang="en-US" sz="13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Gautam P M   AM.SC.U4AIE25112</a:t>
            </a:r>
            <a:endParaRPr lang="en-US" sz="13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Abhishek U Pai   AM.SC.U4AIE25101</a:t>
            </a:r>
            <a:endParaRPr lang="en-US" sz="1300" dirty="0"/>
          </a:p>
        </p:txBody>
      </p:sp>
      <p:sp>
        <p:nvSpPr>
          <p:cNvPr id="6" name="Shape 4"/>
          <p:cNvSpPr/>
          <p:nvPr/>
        </p:nvSpPr>
        <p:spPr>
          <a:xfrm>
            <a:off x="5623560" y="685800"/>
            <a:ext cx="3108960" cy="3749040"/>
          </a:xfrm>
          <a:prstGeom prst="roundRect">
            <a:avLst>
              <a:gd name="adj" fmla="val 4412"/>
            </a:avLst>
          </a:prstGeom>
          <a:solidFill>
            <a:srgbClr val="FFFFFF"/>
          </a:solidFill>
          <a:ln/>
        </p:spPr>
      </p:sp>
      <p:pic>
        <p:nvPicPr>
          <p:cNvPr id="7" name="Image 0" descr="/home/claude/project/results/figures/fig1_route_multi_delivery.png">    </p:cNvPr>
          <p:cNvPicPr>
            <a:picLocks noChangeAspect="1"/>
          </p:cNvPicPr>
          <p:nvPr/>
        </p:nvPicPr>
        <p:blipFill>
          <a:blip r:embed="rId1"/>
          <a:stretch>
            <a:fillRect/>
          </a:stretch>
        </p:blipFill>
        <p:spPr>
          <a:xfrm>
            <a:off x="5715000" y="1175229"/>
            <a:ext cx="2926080" cy="2770182"/>
          </a:xfrm>
          <a:prstGeom prst="rect">
            <a:avLst/>
          </a:prstGeom>
        </p:spPr>
      </p:pic>
      <p:sp>
        <p:nvSpPr>
          <p:cNvPr id="8" name="Text 5"/>
          <p:cNvSpPr txBox="1"/>
          <p:nvPr/>
        </p:nvSpPr>
        <p:spPr>
          <a:xfrm>
            <a:off x="5623560" y="4526280"/>
            <a:ext cx="3108960" cy="365760"/>
          </a:xfrm>
          <a:prstGeom prst="rect">
            <a:avLst/>
          </a:prstGeom>
          <a:noFill/>
          <a:ln/>
        </p:spPr>
        <p:txBody>
          <a:bodyPr wrap="square" lIns="0" tIns="0" rIns="0" bIns="0" rtlCol="0" anchor="ctr"/>
          <a:lstStyle/>
          <a:p>
            <a:pPr algn="ctr" indent="0" marL="0">
              <a:buNone/>
            </a:pPr>
            <a:r>
              <a:rPr lang="en-US" sz="1100" i="1" dirty="0">
                <a:solidFill>
                  <a:srgbClr val="BFD4E4"/>
                </a:solidFill>
                <a:latin typeface="Calibri" pitchFamily="34" charset="0"/>
                <a:ea typeface="Calibri" pitchFamily="34" charset="-122"/>
                <a:cs typeface="Calibri" pitchFamily="34" charset="-120"/>
              </a:rPr>
              <a:t>Classical AI only: search and heuristics. No ML, DL or RL.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Problem Statement</a:t>
            </a:r>
            <a:endParaRPr lang="en-US" sz="3000" dirty="0"/>
          </a:p>
        </p:txBody>
      </p:sp>
      <p:sp>
        <p:nvSpPr>
          <p:cNvPr id="3" name="Shape 1"/>
          <p:cNvSpPr/>
          <p:nvPr/>
        </p:nvSpPr>
        <p:spPr>
          <a:xfrm>
            <a:off x="457200" y="886968"/>
            <a:ext cx="457200" cy="274320"/>
          </a:xfrm>
          <a:prstGeom prst="roundRect">
            <a:avLst>
              <a:gd name="adj" fmla="val 50000"/>
            </a:avLst>
          </a:prstGeom>
          <a:solidFill>
            <a:srgbClr val="17A398"/>
          </a:solidFill>
          <a:ln/>
        </p:spPr>
      </p:sp>
      <p:sp>
        <p:nvSpPr>
          <p:cNvPr id="4" name="Text 2"/>
          <p:cNvSpPr txBox="1"/>
          <p:nvPr/>
        </p:nvSpPr>
        <p:spPr>
          <a:xfrm>
            <a:off x="457200" y="88696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5" name="Text 3"/>
          <p:cNvSpPr txBox="1"/>
          <p:nvPr/>
        </p:nvSpPr>
        <p:spPr>
          <a:xfrm>
            <a:off x="1051560" y="886968"/>
            <a:ext cx="731520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What problem is being solved?</a:t>
            </a:r>
            <a:endParaRPr lang="en-US" sz="1400" dirty="0"/>
          </a:p>
        </p:txBody>
      </p:sp>
      <p:sp>
        <p:nvSpPr>
          <p:cNvPr id="6" name="Text 4"/>
          <p:cNvSpPr txBox="1"/>
          <p:nvPr/>
        </p:nvSpPr>
        <p:spPr>
          <a:xfrm>
            <a:off x="457200" y="1417320"/>
            <a:ext cx="3931920" cy="1371600"/>
          </a:xfrm>
          <a:prstGeom prst="rect">
            <a:avLst/>
          </a:prstGeom>
          <a:noFill/>
          <a:ln/>
        </p:spPr>
        <p:txBody>
          <a:bodyPr wrap="square" lIns="0" tIns="0" rIns="0" bIns="0" rtlCol="0" anchor="t"/>
          <a:lstStyle/>
          <a:p>
            <a:pPr indent="0" marL="0">
              <a:buNone/>
            </a:pPr>
            <a:r>
              <a:rPr lang="en-US" sz="2200" b="1" dirty="0">
                <a:solidFill>
                  <a:srgbClr val="0F2A43"/>
                </a:solidFill>
                <a:latin typeface="Cambria" pitchFamily="34" charset="0"/>
                <a:ea typeface="Cambria" pitchFamily="34" charset="-122"/>
                <a:cs typeface="Cambria" pitchFamily="34" charset="-120"/>
              </a:rPr>
              <a:t>Plan safe, low-cost delivery routes for an autonomous drone in a city-like grid.</a:t>
            </a:r>
            <a:endParaRPr lang="en-US" sz="2200" dirty="0"/>
          </a:p>
        </p:txBody>
      </p:sp>
      <p:sp>
        <p:nvSpPr>
          <p:cNvPr id="7" name="Text 5"/>
          <p:cNvSpPr txBox="1"/>
          <p:nvPr/>
        </p:nvSpPr>
        <p:spPr>
          <a:xfrm>
            <a:off x="457200" y="2834640"/>
            <a:ext cx="3931920" cy="10058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Urban delivery is hard: airspace is restricted, wind makes some moves more expensive, one drone must serve several stops, and its battery is limited.</a:t>
            </a:r>
            <a:endParaRPr lang="en-US" sz="1400" dirty="0"/>
          </a:p>
        </p:txBody>
      </p:sp>
      <p:sp>
        <p:nvSpPr>
          <p:cNvPr id="8" name="Shape 6"/>
          <p:cNvSpPr/>
          <p:nvPr/>
        </p:nvSpPr>
        <p:spPr>
          <a:xfrm>
            <a:off x="457200" y="3977640"/>
            <a:ext cx="3931920" cy="685800"/>
          </a:xfrm>
          <a:prstGeom prst="roundRect">
            <a:avLst>
              <a:gd name="adj" fmla="val 16000"/>
            </a:avLst>
          </a:prstGeom>
          <a:solidFill>
            <a:srgbClr val="0F2A43"/>
          </a:solidFill>
          <a:ln w="12700">
            <a:solidFill>
              <a:srgbClr val="0F2A43"/>
            </a:solidFill>
            <a:prstDash val="solid"/>
          </a:ln>
        </p:spPr>
      </p:sp>
      <p:sp>
        <p:nvSpPr>
          <p:cNvPr id="9" name="Text 7"/>
          <p:cNvSpPr txBox="1"/>
          <p:nvPr/>
        </p:nvSpPr>
        <p:spPr>
          <a:xfrm>
            <a:off x="594360" y="3977640"/>
            <a:ext cx="36576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Goal: minimise total mission cost with zero battery violations.</a:t>
            </a:r>
            <a:endParaRPr lang="en-US" sz="1400" dirty="0"/>
          </a:p>
        </p:txBody>
      </p:sp>
      <p:sp>
        <p:nvSpPr>
          <p:cNvPr id="10" name="Shape 8"/>
          <p:cNvSpPr/>
          <p:nvPr/>
        </p:nvSpPr>
        <p:spPr>
          <a:xfrm>
            <a:off x="4754880" y="1371600"/>
            <a:ext cx="3931920" cy="777240"/>
          </a:xfrm>
          <a:prstGeom prst="roundRect">
            <a:avLst>
              <a:gd name="adj" fmla="val 14118"/>
            </a:avLst>
          </a:prstGeom>
          <a:solidFill>
            <a:srgbClr val="EEF5F7"/>
          </a:solidFill>
          <a:ln w="12700">
            <a:solidFill>
              <a:srgbClr val="EEF5F7"/>
            </a:solidFill>
            <a:prstDash val="solid"/>
          </a:ln>
        </p:spPr>
      </p:sp>
      <p:sp>
        <p:nvSpPr>
          <p:cNvPr id="11" name="Shape 9"/>
          <p:cNvSpPr/>
          <p:nvPr/>
        </p:nvSpPr>
        <p:spPr>
          <a:xfrm>
            <a:off x="4892040" y="1527048"/>
            <a:ext cx="457200" cy="457200"/>
          </a:xfrm>
          <a:prstGeom prst="ellipse">
            <a:avLst/>
          </a:prstGeom>
          <a:solidFill>
            <a:srgbClr val="17A398"/>
          </a:solidFill>
          <a:ln/>
        </p:spPr>
      </p:sp>
      <p:pic>
        <p:nvPicPr>
          <p:cNvPr id="12" name="Image 0" descr="preencoded.png">    </p:cNvPr>
          <p:cNvPicPr>
            <a:picLocks noChangeAspect="1"/>
          </p:cNvPicPr>
          <p:nvPr/>
        </p:nvPicPr>
        <p:blipFill>
          <a:blip r:embed="rId1"/>
          <a:stretch>
            <a:fillRect/>
          </a:stretch>
        </p:blipFill>
        <p:spPr>
          <a:xfrm>
            <a:off x="5006340" y="1641348"/>
            <a:ext cx="228600" cy="228600"/>
          </a:xfrm>
          <a:prstGeom prst="rect">
            <a:avLst/>
          </a:prstGeom>
        </p:spPr>
      </p:pic>
      <p:sp>
        <p:nvSpPr>
          <p:cNvPr id="13" name="Text 10"/>
          <p:cNvSpPr txBox="1"/>
          <p:nvPr/>
        </p:nvSpPr>
        <p:spPr>
          <a:xfrm>
            <a:off x="5532120" y="1435608"/>
            <a:ext cx="3063240" cy="256032"/>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Restricted airspace</a:t>
            </a:r>
            <a:endParaRPr lang="en-US" sz="1400" dirty="0"/>
          </a:p>
        </p:txBody>
      </p:sp>
      <p:sp>
        <p:nvSpPr>
          <p:cNvPr id="14" name="Text 11"/>
          <p:cNvSpPr txBox="1"/>
          <p:nvPr/>
        </p:nvSpPr>
        <p:spPr>
          <a:xfrm>
            <a:off x="5532120" y="1691640"/>
            <a:ext cx="3063240" cy="41148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No-fly zones (buildings, restricted areas) can never be entered.</a:t>
            </a:r>
            <a:endParaRPr lang="en-US" sz="1100" dirty="0"/>
          </a:p>
        </p:txBody>
      </p:sp>
      <p:sp>
        <p:nvSpPr>
          <p:cNvPr id="15" name="Shape 12"/>
          <p:cNvSpPr/>
          <p:nvPr/>
        </p:nvSpPr>
        <p:spPr>
          <a:xfrm>
            <a:off x="4754880" y="2258568"/>
            <a:ext cx="3931920" cy="777240"/>
          </a:xfrm>
          <a:prstGeom prst="roundRect">
            <a:avLst>
              <a:gd name="adj" fmla="val 14118"/>
            </a:avLst>
          </a:prstGeom>
          <a:solidFill>
            <a:srgbClr val="EEF5F7"/>
          </a:solidFill>
          <a:ln w="12700">
            <a:solidFill>
              <a:srgbClr val="EEF5F7"/>
            </a:solidFill>
            <a:prstDash val="solid"/>
          </a:ln>
        </p:spPr>
      </p:sp>
      <p:sp>
        <p:nvSpPr>
          <p:cNvPr id="16" name="Shape 13"/>
          <p:cNvSpPr/>
          <p:nvPr/>
        </p:nvSpPr>
        <p:spPr>
          <a:xfrm>
            <a:off x="4892040" y="2414016"/>
            <a:ext cx="457200" cy="457200"/>
          </a:xfrm>
          <a:prstGeom prst="ellipse">
            <a:avLst/>
          </a:prstGeom>
          <a:solidFill>
            <a:srgbClr val="17A398"/>
          </a:solidFill>
          <a:ln/>
        </p:spPr>
      </p:sp>
      <p:pic>
        <p:nvPicPr>
          <p:cNvPr id="17" name="Image 1" descr="preencoded.png">    </p:cNvPr>
          <p:cNvPicPr>
            <a:picLocks noChangeAspect="1"/>
          </p:cNvPicPr>
          <p:nvPr/>
        </p:nvPicPr>
        <p:blipFill>
          <a:blip r:embed="rId2"/>
          <a:stretch>
            <a:fillRect/>
          </a:stretch>
        </p:blipFill>
        <p:spPr>
          <a:xfrm>
            <a:off x="5006340" y="2528316"/>
            <a:ext cx="228600" cy="228600"/>
          </a:xfrm>
          <a:prstGeom prst="rect">
            <a:avLst/>
          </a:prstGeom>
        </p:spPr>
      </p:pic>
      <p:sp>
        <p:nvSpPr>
          <p:cNvPr id="18" name="Text 14"/>
          <p:cNvSpPr txBox="1"/>
          <p:nvPr/>
        </p:nvSpPr>
        <p:spPr>
          <a:xfrm>
            <a:off x="5532120" y="2322576"/>
            <a:ext cx="3063240" cy="256032"/>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Wind</a:t>
            </a:r>
            <a:endParaRPr lang="en-US" sz="1400" dirty="0"/>
          </a:p>
        </p:txBody>
      </p:sp>
      <p:sp>
        <p:nvSpPr>
          <p:cNvPr id="19" name="Text 15"/>
          <p:cNvSpPr txBox="1"/>
          <p:nvPr/>
        </p:nvSpPr>
        <p:spPr>
          <a:xfrm>
            <a:off x="5532120" y="2578608"/>
            <a:ext cx="3063240" cy="41148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Flying against the wind costs more, so the cheapest route is not always the shortest.</a:t>
            </a:r>
            <a:endParaRPr lang="en-US" sz="1100" dirty="0"/>
          </a:p>
        </p:txBody>
      </p:sp>
      <p:sp>
        <p:nvSpPr>
          <p:cNvPr id="20" name="Shape 16"/>
          <p:cNvSpPr/>
          <p:nvPr/>
        </p:nvSpPr>
        <p:spPr>
          <a:xfrm>
            <a:off x="4754880" y="3145536"/>
            <a:ext cx="3931920" cy="777240"/>
          </a:xfrm>
          <a:prstGeom prst="roundRect">
            <a:avLst>
              <a:gd name="adj" fmla="val 14118"/>
            </a:avLst>
          </a:prstGeom>
          <a:solidFill>
            <a:srgbClr val="EEF5F7"/>
          </a:solidFill>
          <a:ln w="12700">
            <a:solidFill>
              <a:srgbClr val="EEF5F7"/>
            </a:solidFill>
            <a:prstDash val="solid"/>
          </a:ln>
        </p:spPr>
      </p:sp>
      <p:sp>
        <p:nvSpPr>
          <p:cNvPr id="21" name="Shape 17"/>
          <p:cNvSpPr/>
          <p:nvPr/>
        </p:nvSpPr>
        <p:spPr>
          <a:xfrm>
            <a:off x="4892040" y="3300984"/>
            <a:ext cx="457200" cy="457200"/>
          </a:xfrm>
          <a:prstGeom prst="ellipse">
            <a:avLst/>
          </a:prstGeom>
          <a:solidFill>
            <a:srgbClr val="17A398"/>
          </a:solidFill>
          <a:ln/>
        </p:spPr>
      </p:sp>
      <p:pic>
        <p:nvPicPr>
          <p:cNvPr id="22" name="Image 2" descr="preencoded.png">    </p:cNvPr>
          <p:cNvPicPr>
            <a:picLocks noChangeAspect="1"/>
          </p:cNvPicPr>
          <p:nvPr/>
        </p:nvPicPr>
        <p:blipFill>
          <a:blip r:embed="rId3"/>
          <a:stretch>
            <a:fillRect/>
          </a:stretch>
        </p:blipFill>
        <p:spPr>
          <a:xfrm>
            <a:off x="5006340" y="3415284"/>
            <a:ext cx="228600" cy="228600"/>
          </a:xfrm>
          <a:prstGeom prst="rect">
            <a:avLst/>
          </a:prstGeom>
        </p:spPr>
      </p:pic>
      <p:sp>
        <p:nvSpPr>
          <p:cNvPr id="23" name="Text 18"/>
          <p:cNvSpPr txBox="1"/>
          <p:nvPr/>
        </p:nvSpPr>
        <p:spPr>
          <a:xfrm>
            <a:off x="5532120" y="3209544"/>
            <a:ext cx="3063240" cy="256032"/>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Multi-stop routing</a:t>
            </a:r>
            <a:endParaRPr lang="en-US" sz="1400" dirty="0"/>
          </a:p>
        </p:txBody>
      </p:sp>
      <p:sp>
        <p:nvSpPr>
          <p:cNvPr id="24" name="Text 19"/>
          <p:cNvSpPr txBox="1"/>
          <p:nvPr/>
        </p:nvSpPr>
        <p:spPr>
          <a:xfrm>
            <a:off x="5532120" y="3465576"/>
            <a:ext cx="3063240" cy="41148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Several pickups and drop-offs. Each pickup must come before its drop-off.</a:t>
            </a:r>
            <a:endParaRPr lang="en-US" sz="1100" dirty="0"/>
          </a:p>
        </p:txBody>
      </p:sp>
      <p:sp>
        <p:nvSpPr>
          <p:cNvPr id="25" name="Shape 20"/>
          <p:cNvSpPr/>
          <p:nvPr/>
        </p:nvSpPr>
        <p:spPr>
          <a:xfrm>
            <a:off x="4754880" y="4032504"/>
            <a:ext cx="3931920" cy="777240"/>
          </a:xfrm>
          <a:prstGeom prst="roundRect">
            <a:avLst>
              <a:gd name="adj" fmla="val 14118"/>
            </a:avLst>
          </a:prstGeom>
          <a:solidFill>
            <a:srgbClr val="EEF5F7"/>
          </a:solidFill>
          <a:ln w="12700">
            <a:solidFill>
              <a:srgbClr val="EEF5F7"/>
            </a:solidFill>
            <a:prstDash val="solid"/>
          </a:ln>
        </p:spPr>
      </p:sp>
      <p:sp>
        <p:nvSpPr>
          <p:cNvPr id="26" name="Shape 21"/>
          <p:cNvSpPr/>
          <p:nvPr/>
        </p:nvSpPr>
        <p:spPr>
          <a:xfrm>
            <a:off x="4892040" y="4187952"/>
            <a:ext cx="457200" cy="457200"/>
          </a:xfrm>
          <a:prstGeom prst="ellipse">
            <a:avLst/>
          </a:prstGeom>
          <a:solidFill>
            <a:srgbClr val="17A398"/>
          </a:solidFill>
          <a:ln/>
        </p:spPr>
      </p:sp>
      <p:pic>
        <p:nvPicPr>
          <p:cNvPr id="27" name="Image 3" descr="preencoded.png">    </p:cNvPr>
          <p:cNvPicPr>
            <a:picLocks noChangeAspect="1"/>
          </p:cNvPicPr>
          <p:nvPr/>
        </p:nvPicPr>
        <p:blipFill>
          <a:blip r:embed="rId4"/>
          <a:stretch>
            <a:fillRect/>
          </a:stretch>
        </p:blipFill>
        <p:spPr>
          <a:xfrm>
            <a:off x="5006340" y="4302252"/>
            <a:ext cx="228600" cy="228600"/>
          </a:xfrm>
          <a:prstGeom prst="rect">
            <a:avLst/>
          </a:prstGeom>
        </p:spPr>
      </p:pic>
      <p:sp>
        <p:nvSpPr>
          <p:cNvPr id="28" name="Text 22"/>
          <p:cNvSpPr txBox="1"/>
          <p:nvPr/>
        </p:nvSpPr>
        <p:spPr>
          <a:xfrm>
            <a:off x="5532120" y="4096512"/>
            <a:ext cx="3063240" cy="256032"/>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Limited battery</a:t>
            </a:r>
            <a:endParaRPr lang="en-US" sz="1400" dirty="0"/>
          </a:p>
        </p:txBody>
      </p:sp>
      <p:sp>
        <p:nvSpPr>
          <p:cNvPr id="29" name="Text 23"/>
          <p:cNvSpPr txBox="1"/>
          <p:nvPr/>
        </p:nvSpPr>
        <p:spPr>
          <a:xfrm>
            <a:off x="5532120" y="4352544"/>
            <a:ext cx="3063240" cy="411480"/>
          </a:xfrm>
          <a:prstGeom prst="rect">
            <a:avLst/>
          </a:prstGeom>
          <a:noFill/>
          <a:ln/>
        </p:spPr>
        <p:txBody>
          <a:bodyPr wrap="square" lIns="0" tIns="0" rIns="0" bIns="0" rtlCol="0" anchor="t"/>
          <a:lstStyle/>
          <a:p>
            <a:pPr indent="0" marL="0">
              <a:buNone/>
            </a:pPr>
            <a:r>
              <a:rPr lang="en-US" sz="1100" dirty="0">
                <a:solidFill>
                  <a:srgbClr val="5B6B7A"/>
                </a:solidFill>
                <a:latin typeface="Calibri" pitchFamily="34" charset="0"/>
                <a:ea typeface="Calibri" pitchFamily="34" charset="-122"/>
                <a:cs typeface="Calibri" pitchFamily="34" charset="-120"/>
              </a:rPr>
              <a:t>Every move uses battery, so the drone must be able to get home to recharge.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Operating Environment</a:t>
            </a:r>
            <a:endParaRPr lang="en-US" sz="3000" dirty="0"/>
          </a:p>
        </p:txBody>
      </p:sp>
      <p:sp>
        <p:nvSpPr>
          <p:cNvPr id="3" name="Shape 1"/>
          <p:cNvSpPr/>
          <p:nvPr/>
        </p:nvSpPr>
        <p:spPr>
          <a:xfrm>
            <a:off x="457200" y="886968"/>
            <a:ext cx="457200" cy="274320"/>
          </a:xfrm>
          <a:prstGeom prst="roundRect">
            <a:avLst>
              <a:gd name="adj" fmla="val 50000"/>
            </a:avLst>
          </a:prstGeom>
          <a:solidFill>
            <a:srgbClr val="17A398"/>
          </a:solidFill>
          <a:ln/>
        </p:spPr>
      </p:sp>
      <p:sp>
        <p:nvSpPr>
          <p:cNvPr id="4" name="Text 2"/>
          <p:cNvSpPr txBox="1"/>
          <p:nvPr/>
        </p:nvSpPr>
        <p:spPr>
          <a:xfrm>
            <a:off x="457200" y="88696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5" name="Text 3"/>
          <p:cNvSpPr txBox="1"/>
          <p:nvPr/>
        </p:nvSpPr>
        <p:spPr>
          <a:xfrm>
            <a:off x="1051560" y="886968"/>
            <a:ext cx="731520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Where does the agent operate?</a:t>
            </a:r>
            <a:endParaRPr lang="en-US" sz="1400" dirty="0"/>
          </a:p>
        </p:txBody>
      </p:sp>
      <p:pic>
        <p:nvPicPr>
          <p:cNvPr id="6" name="Image 0" descr="/home/claude/project/results/figures/fig2_wind_nofly_zones.png">    </p:cNvPr>
          <p:cNvPicPr>
            <a:picLocks noChangeAspect="1"/>
          </p:cNvPicPr>
          <p:nvPr/>
        </p:nvPicPr>
        <p:blipFill>
          <a:blip r:embed="rId1"/>
          <a:stretch>
            <a:fillRect/>
          </a:stretch>
        </p:blipFill>
        <p:spPr>
          <a:xfrm>
            <a:off x="703613" y="1280160"/>
            <a:ext cx="3164774" cy="3566160"/>
          </a:xfrm>
          <a:prstGeom prst="rect">
            <a:avLst/>
          </a:prstGeom>
        </p:spPr>
      </p:pic>
      <p:sp>
        <p:nvSpPr>
          <p:cNvPr id="7" name="Text 4"/>
          <p:cNvSpPr txBox="1"/>
          <p:nvPr/>
        </p:nvSpPr>
        <p:spPr>
          <a:xfrm>
            <a:off x="4389120" y="1280160"/>
            <a:ext cx="4297680" cy="274320"/>
          </a:xfrm>
          <a:prstGeom prst="rect">
            <a:avLst/>
          </a:prstGeom>
          <a:noFill/>
          <a:ln/>
        </p:spPr>
        <p:txBody>
          <a:bodyPr wrap="square" lIns="0" tIns="0" rIns="0" bIns="0" rtlCol="0" anchor="ctr"/>
          <a:lstStyle/>
          <a:p>
            <a:pPr indent="0" marL="0">
              <a:buNone/>
            </a:pPr>
            <a:r>
              <a:rPr lang="en-US" sz="1400" b="1" dirty="0">
                <a:solidFill>
                  <a:srgbClr val="0F2A43"/>
                </a:solidFill>
                <a:latin typeface="Calibri" pitchFamily="34" charset="0"/>
                <a:ea typeface="Calibri" pitchFamily="34" charset="-122"/>
                <a:cs typeface="Calibri" pitchFamily="34" charset="-120"/>
              </a:rPr>
              <a:t>A 2D grid of an urban or campus area</a:t>
            </a:r>
            <a:endParaRPr lang="en-US" sz="1400" dirty="0"/>
          </a:p>
        </p:txBody>
      </p:sp>
      <p:sp>
        <p:nvSpPr>
          <p:cNvPr id="8" name="Shape 5"/>
          <p:cNvSpPr/>
          <p:nvPr/>
        </p:nvSpPr>
        <p:spPr>
          <a:xfrm>
            <a:off x="4389120" y="1664208"/>
            <a:ext cx="292608" cy="292608"/>
          </a:xfrm>
          <a:prstGeom prst="roundRect">
            <a:avLst>
              <a:gd name="adj" fmla="val 15625"/>
            </a:avLst>
          </a:prstGeom>
          <a:solidFill>
            <a:srgbClr val="FFFFFF"/>
          </a:solidFill>
          <a:ln w="12700">
            <a:solidFill>
              <a:srgbClr val="B8C4CE"/>
            </a:solidFill>
            <a:prstDash val="solid"/>
          </a:ln>
        </p:spPr>
      </p:sp>
      <p:sp>
        <p:nvSpPr>
          <p:cNvPr id="9" name="Text 6"/>
          <p:cNvSpPr txBox="1"/>
          <p:nvPr/>
        </p:nvSpPr>
        <p:spPr>
          <a:xfrm>
            <a:off x="4800600" y="1664208"/>
            <a:ext cx="3886200" cy="292608"/>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Free cell  </a:t>
            </a:r>
            <a:pPr indent="0" marL="0">
              <a:buNone/>
            </a:pPr>
            <a:r>
              <a:rPr lang="en-US" sz="1300" dirty="0">
                <a:solidFill>
                  <a:srgbClr val="5B6B7A"/>
                </a:solidFill>
                <a:latin typeface="Calibri" pitchFamily="34" charset="0"/>
                <a:ea typeface="Calibri" pitchFamily="34" charset="-122"/>
                <a:cs typeface="Calibri" pitchFamily="34" charset="-120"/>
              </a:rPr>
              <a:t>movement cost 1</a:t>
            </a:r>
            <a:endParaRPr lang="en-US" sz="1300" dirty="0"/>
          </a:p>
        </p:txBody>
      </p:sp>
      <p:sp>
        <p:nvSpPr>
          <p:cNvPr id="10" name="Shape 7"/>
          <p:cNvSpPr/>
          <p:nvPr/>
        </p:nvSpPr>
        <p:spPr>
          <a:xfrm>
            <a:off x="4389120" y="2139696"/>
            <a:ext cx="292608" cy="292608"/>
          </a:xfrm>
          <a:prstGeom prst="roundRect">
            <a:avLst>
              <a:gd name="adj" fmla="val 15625"/>
            </a:avLst>
          </a:prstGeom>
          <a:solidFill>
            <a:srgbClr val="3A3F47"/>
          </a:solidFill>
          <a:ln w="12700">
            <a:solidFill>
              <a:srgbClr val="3A3F47"/>
            </a:solidFill>
            <a:prstDash val="solid"/>
          </a:ln>
        </p:spPr>
      </p:sp>
      <p:sp>
        <p:nvSpPr>
          <p:cNvPr id="11" name="Text 8"/>
          <p:cNvSpPr txBox="1"/>
          <p:nvPr/>
        </p:nvSpPr>
        <p:spPr>
          <a:xfrm>
            <a:off x="4800600" y="2139696"/>
            <a:ext cx="3886200" cy="292608"/>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No-fly zone  </a:t>
            </a:r>
            <a:pPr indent="0" marL="0">
              <a:buNone/>
            </a:pPr>
            <a:r>
              <a:rPr lang="en-US" sz="1300" dirty="0">
                <a:solidFill>
                  <a:srgbClr val="5B6B7A"/>
                </a:solidFill>
                <a:latin typeface="Calibri" pitchFamily="34" charset="0"/>
                <a:ea typeface="Calibri" pitchFamily="34" charset="-122"/>
                <a:cs typeface="Calibri" pitchFamily="34" charset="-120"/>
              </a:rPr>
              <a:t>can never be entered</a:t>
            </a:r>
            <a:endParaRPr lang="en-US" sz="1300" dirty="0"/>
          </a:p>
        </p:txBody>
      </p:sp>
      <p:sp>
        <p:nvSpPr>
          <p:cNvPr id="12" name="Shape 9"/>
          <p:cNvSpPr/>
          <p:nvPr/>
        </p:nvSpPr>
        <p:spPr>
          <a:xfrm>
            <a:off x="4389120" y="2615184"/>
            <a:ext cx="292608" cy="292608"/>
          </a:xfrm>
          <a:prstGeom prst="roundRect">
            <a:avLst>
              <a:gd name="adj" fmla="val 15625"/>
            </a:avLst>
          </a:prstGeom>
          <a:solidFill>
            <a:srgbClr val="9CC6E0"/>
          </a:solidFill>
          <a:ln w="12700">
            <a:solidFill>
              <a:srgbClr val="9CC6E0"/>
            </a:solidFill>
            <a:prstDash val="solid"/>
          </a:ln>
        </p:spPr>
      </p:sp>
      <p:sp>
        <p:nvSpPr>
          <p:cNvPr id="13" name="Text 10"/>
          <p:cNvSpPr txBox="1"/>
          <p:nvPr/>
        </p:nvSpPr>
        <p:spPr>
          <a:xfrm>
            <a:off x="4800600" y="2615184"/>
            <a:ext cx="3886200" cy="292608"/>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Wind cell  </a:t>
            </a:r>
            <a:pPr indent="0" marL="0">
              <a:buNone/>
            </a:pPr>
            <a:r>
              <a:rPr lang="en-US" sz="1300" dirty="0">
                <a:solidFill>
                  <a:srgbClr val="5B6B7A"/>
                </a:solidFill>
                <a:latin typeface="Calibri" pitchFamily="34" charset="0"/>
                <a:ea typeface="Calibri" pitchFamily="34" charset="-122"/>
                <a:cs typeface="Calibri" pitchFamily="34" charset="-120"/>
              </a:rPr>
              <a:t>has a direction and a strength</a:t>
            </a:r>
            <a:endParaRPr lang="en-US" sz="1300" dirty="0"/>
          </a:p>
        </p:txBody>
      </p:sp>
      <p:sp>
        <p:nvSpPr>
          <p:cNvPr id="14" name="Shape 11"/>
          <p:cNvSpPr/>
          <p:nvPr/>
        </p:nvSpPr>
        <p:spPr>
          <a:xfrm>
            <a:off x="4389120" y="3090672"/>
            <a:ext cx="292608" cy="292608"/>
          </a:xfrm>
          <a:prstGeom prst="roundRect">
            <a:avLst>
              <a:gd name="adj" fmla="val 15625"/>
            </a:avLst>
          </a:prstGeom>
          <a:solidFill>
            <a:srgbClr val="2E9E5B"/>
          </a:solidFill>
          <a:ln w="12700">
            <a:solidFill>
              <a:srgbClr val="2E9E5B"/>
            </a:solidFill>
            <a:prstDash val="solid"/>
          </a:ln>
        </p:spPr>
      </p:sp>
      <p:sp>
        <p:nvSpPr>
          <p:cNvPr id="15" name="Text 12"/>
          <p:cNvSpPr txBox="1"/>
          <p:nvPr/>
        </p:nvSpPr>
        <p:spPr>
          <a:xfrm>
            <a:off x="4800600" y="3090672"/>
            <a:ext cx="3886200" cy="292608"/>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Depot  </a:t>
            </a:r>
            <a:pPr indent="0" marL="0">
              <a:buNone/>
            </a:pPr>
            <a:r>
              <a:rPr lang="en-US" sz="1300" dirty="0">
                <a:solidFill>
                  <a:srgbClr val="5B6B7A"/>
                </a:solidFill>
                <a:latin typeface="Calibri" pitchFamily="34" charset="0"/>
                <a:ea typeface="Calibri" pitchFamily="34" charset="-122"/>
                <a:cs typeface="Calibri" pitchFamily="34" charset="-120"/>
              </a:rPr>
              <a:t>start point and recharging point</a:t>
            </a:r>
            <a:endParaRPr lang="en-US" sz="1300" dirty="0"/>
          </a:p>
        </p:txBody>
      </p:sp>
      <p:sp>
        <p:nvSpPr>
          <p:cNvPr id="16" name="Shape 13"/>
          <p:cNvSpPr/>
          <p:nvPr/>
        </p:nvSpPr>
        <p:spPr>
          <a:xfrm>
            <a:off x="4389120" y="3566160"/>
            <a:ext cx="292608" cy="292608"/>
          </a:xfrm>
          <a:prstGeom prst="roundRect">
            <a:avLst>
              <a:gd name="adj" fmla="val 15625"/>
            </a:avLst>
          </a:prstGeom>
          <a:solidFill>
            <a:srgbClr val="F4A259"/>
          </a:solidFill>
          <a:ln w="12700">
            <a:solidFill>
              <a:srgbClr val="F4A259"/>
            </a:solidFill>
            <a:prstDash val="solid"/>
          </a:ln>
        </p:spPr>
      </p:sp>
      <p:sp>
        <p:nvSpPr>
          <p:cNvPr id="17" name="Text 14"/>
          <p:cNvSpPr txBox="1"/>
          <p:nvPr/>
        </p:nvSpPr>
        <p:spPr>
          <a:xfrm>
            <a:off x="4800600" y="3566160"/>
            <a:ext cx="3886200" cy="292608"/>
          </a:xfrm>
          <a:prstGeom prst="rect">
            <a:avLst/>
          </a:prstGeom>
          <a:noFill/>
          <a:ln/>
        </p:spPr>
        <p:txBody>
          <a:bodyPr wrap="square" lIns="0" tIns="0" rIns="0" bIns="0" rtlCol="0" anchor="ctr"/>
          <a:lstStyle/>
          <a:p>
            <a:pPr indent="0" marL="0">
              <a:buNone/>
            </a:pPr>
            <a:r>
              <a:rPr lang="en-US" sz="1300" b="1" dirty="0">
                <a:solidFill>
                  <a:srgbClr val="0F2A43"/>
                </a:solidFill>
                <a:latin typeface="Calibri" pitchFamily="34" charset="0"/>
                <a:ea typeface="Calibri" pitchFamily="34" charset="-122"/>
                <a:cs typeface="Calibri" pitchFamily="34" charset="-120"/>
              </a:rPr>
              <a:t>Pickup / drop-off  </a:t>
            </a:r>
            <a:pPr indent="0" marL="0">
              <a:buNone/>
            </a:pPr>
            <a:r>
              <a:rPr lang="en-US" sz="1300" dirty="0">
                <a:solidFill>
                  <a:srgbClr val="5B6B7A"/>
                </a:solidFill>
                <a:latin typeface="Calibri" pitchFamily="34" charset="0"/>
                <a:ea typeface="Calibri" pitchFamily="34" charset="-122"/>
                <a:cs typeface="Calibri" pitchFamily="34" charset="-120"/>
              </a:rPr>
              <a:t>triangle = pickup, circle = drop-off</a:t>
            </a:r>
            <a:endParaRPr lang="en-US" sz="1300" dirty="0"/>
          </a:p>
        </p:txBody>
      </p:sp>
      <p:sp>
        <p:nvSpPr>
          <p:cNvPr id="18" name="Shape 15"/>
          <p:cNvSpPr/>
          <p:nvPr/>
        </p:nvSpPr>
        <p:spPr>
          <a:xfrm>
            <a:off x="4389120" y="3977640"/>
            <a:ext cx="4297680" cy="914400"/>
          </a:xfrm>
          <a:prstGeom prst="roundRect">
            <a:avLst>
              <a:gd name="adj" fmla="val 12000"/>
            </a:avLst>
          </a:prstGeom>
          <a:solidFill>
            <a:srgbClr val="EEF5F7"/>
          </a:solidFill>
          <a:ln w="12700">
            <a:solidFill>
              <a:srgbClr val="EEF5F7"/>
            </a:solidFill>
            <a:prstDash val="solid"/>
          </a:ln>
        </p:spPr>
      </p:sp>
      <p:sp>
        <p:nvSpPr>
          <p:cNvPr id="19" name="Text 16"/>
          <p:cNvSpPr txBox="1"/>
          <p:nvPr/>
        </p:nvSpPr>
        <p:spPr>
          <a:xfrm>
            <a:off x="4526280" y="3977640"/>
            <a:ext cx="4069080" cy="914400"/>
          </a:xfrm>
          <a:prstGeom prst="rect">
            <a:avLst/>
          </a:prstGeom>
          <a:noFill/>
          <a:ln/>
        </p:spPr>
        <p:txBody>
          <a:bodyPr wrap="square" lIns="0" tIns="0" rIns="0" bIns="0" rtlCol="0" anchor="ctr"/>
          <a:lstStyle/>
          <a:p>
            <a:pPr indent="0" marL="0">
              <a:buNone/>
            </a:pPr>
            <a:r>
              <a:rPr lang="en-US" sz="1200" b="1" dirty="0">
                <a:solidFill>
                  <a:srgbClr val="0F2A43"/>
                </a:solidFill>
                <a:latin typeface="Calibri" pitchFamily="34" charset="0"/>
                <a:ea typeface="Calibri" pitchFamily="34" charset="-122"/>
                <a:cs typeface="Calibri" pitchFamily="34" charset="-120"/>
              </a:rPr>
              <a:t>Cost of entering a wind cell</a:t>
            </a:r>
            <a:endParaRPr lang="en-US" sz="1200" dirty="0"/>
          </a:p>
          <a:p>
            <a:pPr indent="0" marL="0">
              <a:buNone/>
            </a:pPr>
            <a:r>
              <a:rPr lang="en-US" sz="1200" dirty="0">
                <a:solidFill>
                  <a:srgbClr val="5B6B7A"/>
                </a:solidFill>
                <a:latin typeface="Calibri" pitchFamily="34" charset="0"/>
                <a:ea typeface="Calibri" pitchFamily="34" charset="-122"/>
                <a:cs typeface="Calibri" pitchFamily="34" charset="-120"/>
              </a:rPr>
              <a:t>flying with the wind: 1</a:t>
            </a:r>
            <a:endParaRPr lang="en-US" sz="1200" dirty="0"/>
          </a:p>
          <a:p>
            <a:pPr indent="0" marL="0">
              <a:buNone/>
            </a:pPr>
            <a:r>
              <a:rPr lang="en-US" sz="1200" dirty="0">
                <a:solidFill>
                  <a:srgbClr val="5B6B7A"/>
                </a:solidFill>
                <a:latin typeface="Calibri" pitchFamily="34" charset="0"/>
                <a:ea typeface="Calibri" pitchFamily="34" charset="-122"/>
                <a:cs typeface="Calibri" pitchFamily="34" charset="-120"/>
              </a:rPr>
              <a:t>flying across the wind: 1 + strength / 2 (rounded down)</a:t>
            </a:r>
            <a:endParaRPr lang="en-US" sz="1200" dirty="0"/>
          </a:p>
          <a:p>
            <a:pPr indent="0" marL="0">
              <a:buNone/>
            </a:pPr>
            <a:r>
              <a:rPr lang="en-US" sz="1200" dirty="0">
                <a:solidFill>
                  <a:srgbClr val="5B6B7A"/>
                </a:solidFill>
                <a:latin typeface="Calibri" pitchFamily="34" charset="0"/>
                <a:ea typeface="Calibri" pitchFamily="34" charset="-122"/>
                <a:cs typeface="Calibri" pitchFamily="34" charset="-120"/>
              </a:rPr>
              <a:t>flying against the wind: 1 + strength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Agent Percepts</a:t>
            </a:r>
            <a:endParaRPr lang="en-US" sz="3000" dirty="0"/>
          </a:p>
        </p:txBody>
      </p:sp>
      <p:sp>
        <p:nvSpPr>
          <p:cNvPr id="3" name="Shape 1"/>
          <p:cNvSpPr/>
          <p:nvPr/>
        </p:nvSpPr>
        <p:spPr>
          <a:xfrm>
            <a:off x="457200" y="886968"/>
            <a:ext cx="457200" cy="274320"/>
          </a:xfrm>
          <a:prstGeom prst="roundRect">
            <a:avLst>
              <a:gd name="adj" fmla="val 50000"/>
            </a:avLst>
          </a:prstGeom>
          <a:solidFill>
            <a:srgbClr val="17A398"/>
          </a:solidFill>
          <a:ln/>
        </p:spPr>
      </p:sp>
      <p:sp>
        <p:nvSpPr>
          <p:cNvPr id="4" name="Text 2"/>
          <p:cNvSpPr txBox="1"/>
          <p:nvPr/>
        </p:nvSpPr>
        <p:spPr>
          <a:xfrm>
            <a:off x="457200" y="88696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5" name="Text 3"/>
          <p:cNvSpPr txBox="1"/>
          <p:nvPr/>
        </p:nvSpPr>
        <p:spPr>
          <a:xfrm>
            <a:off x="1051560" y="886968"/>
            <a:ext cx="731520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What information does the agent receive?</a:t>
            </a:r>
            <a:endParaRPr lang="en-US" sz="1400" dirty="0"/>
          </a:p>
        </p:txBody>
      </p:sp>
      <p:sp>
        <p:nvSpPr>
          <p:cNvPr id="6" name="Shape 4"/>
          <p:cNvSpPr/>
          <p:nvPr/>
        </p:nvSpPr>
        <p:spPr>
          <a:xfrm>
            <a:off x="457200" y="1325880"/>
            <a:ext cx="2606040" cy="1508760"/>
          </a:xfrm>
          <a:prstGeom prst="roundRect">
            <a:avLst>
              <a:gd name="adj" fmla="val 7273"/>
            </a:avLst>
          </a:prstGeom>
          <a:solidFill>
            <a:srgbClr val="EEF5F7"/>
          </a:solidFill>
          <a:ln w="12700">
            <a:solidFill>
              <a:srgbClr val="EEF5F7"/>
            </a:solidFill>
            <a:prstDash val="solid"/>
          </a:ln>
        </p:spPr>
      </p:sp>
      <p:sp>
        <p:nvSpPr>
          <p:cNvPr id="7" name="Shape 5"/>
          <p:cNvSpPr/>
          <p:nvPr/>
        </p:nvSpPr>
        <p:spPr>
          <a:xfrm>
            <a:off x="640080" y="1508760"/>
            <a:ext cx="457200" cy="457200"/>
          </a:xfrm>
          <a:prstGeom prst="ellipse">
            <a:avLst/>
          </a:prstGeom>
          <a:solidFill>
            <a:srgbClr val="17A398"/>
          </a:solidFill>
          <a:ln/>
        </p:spPr>
      </p:sp>
      <p:pic>
        <p:nvPicPr>
          <p:cNvPr id="8" name="Image 0" descr="preencoded.png">    </p:cNvPr>
          <p:cNvPicPr>
            <a:picLocks noChangeAspect="1"/>
          </p:cNvPicPr>
          <p:nvPr/>
        </p:nvPicPr>
        <p:blipFill>
          <a:blip r:embed="rId1"/>
          <a:stretch>
            <a:fillRect/>
          </a:stretch>
        </p:blipFill>
        <p:spPr>
          <a:xfrm>
            <a:off x="754380" y="1623060"/>
            <a:ext cx="228600" cy="228600"/>
          </a:xfrm>
          <a:prstGeom prst="rect">
            <a:avLst/>
          </a:prstGeom>
        </p:spPr>
      </p:pic>
      <p:sp>
        <p:nvSpPr>
          <p:cNvPr id="9" name="Text 6"/>
          <p:cNvSpPr txBox="1"/>
          <p:nvPr/>
        </p:nvSpPr>
        <p:spPr>
          <a:xfrm>
            <a:off x="1234440" y="1508760"/>
            <a:ext cx="1737360" cy="457200"/>
          </a:xfrm>
          <a:prstGeom prst="rect">
            <a:avLst/>
          </a:prstGeom>
          <a:noFill/>
          <a:ln/>
        </p:spPr>
        <p:txBody>
          <a:bodyPr wrap="square" lIns="0" tIns="0" rIns="0" bIns="0" rtlCol="0" anchor="ctr"/>
          <a:lstStyle/>
          <a:p>
            <a:pPr indent="0" marL="0">
              <a:buNone/>
            </a:pPr>
            <a:r>
              <a:rPr lang="en-US" sz="1500" b="1" dirty="0">
                <a:solidFill>
                  <a:srgbClr val="0F2A43"/>
                </a:solidFill>
                <a:latin typeface="Calibri" pitchFamily="34" charset="0"/>
                <a:ea typeface="Calibri" pitchFamily="34" charset="-122"/>
                <a:cs typeface="Calibri" pitchFamily="34" charset="-120"/>
              </a:rPr>
              <a:t>Its position</a:t>
            </a:r>
            <a:endParaRPr lang="en-US" sz="1500" dirty="0"/>
          </a:p>
        </p:txBody>
      </p:sp>
      <p:sp>
        <p:nvSpPr>
          <p:cNvPr id="10" name="Text 7"/>
          <p:cNvSpPr txBox="1"/>
          <p:nvPr/>
        </p:nvSpPr>
        <p:spPr>
          <a:xfrm>
            <a:off x="640080" y="2103120"/>
            <a:ext cx="22402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Which grid cell the drone is in right now.</a:t>
            </a:r>
            <a:endParaRPr lang="en-US" sz="1200" dirty="0"/>
          </a:p>
        </p:txBody>
      </p:sp>
      <p:sp>
        <p:nvSpPr>
          <p:cNvPr id="11" name="Shape 8"/>
          <p:cNvSpPr/>
          <p:nvPr/>
        </p:nvSpPr>
        <p:spPr>
          <a:xfrm>
            <a:off x="3268980" y="1325880"/>
            <a:ext cx="2606040" cy="1508760"/>
          </a:xfrm>
          <a:prstGeom prst="roundRect">
            <a:avLst>
              <a:gd name="adj" fmla="val 7273"/>
            </a:avLst>
          </a:prstGeom>
          <a:solidFill>
            <a:srgbClr val="EEF5F7"/>
          </a:solidFill>
          <a:ln w="12700">
            <a:solidFill>
              <a:srgbClr val="EEF5F7"/>
            </a:solidFill>
            <a:prstDash val="solid"/>
          </a:ln>
        </p:spPr>
      </p:sp>
      <p:sp>
        <p:nvSpPr>
          <p:cNvPr id="12" name="Shape 9"/>
          <p:cNvSpPr/>
          <p:nvPr/>
        </p:nvSpPr>
        <p:spPr>
          <a:xfrm>
            <a:off x="3451860" y="1508760"/>
            <a:ext cx="457200" cy="457200"/>
          </a:xfrm>
          <a:prstGeom prst="ellipse">
            <a:avLst/>
          </a:prstGeom>
          <a:solidFill>
            <a:srgbClr val="17A398"/>
          </a:solidFill>
          <a:ln/>
        </p:spPr>
      </p:sp>
      <p:pic>
        <p:nvPicPr>
          <p:cNvPr id="13" name="Image 1" descr="preencoded.png">    </p:cNvPr>
          <p:cNvPicPr>
            <a:picLocks noChangeAspect="1"/>
          </p:cNvPicPr>
          <p:nvPr/>
        </p:nvPicPr>
        <p:blipFill>
          <a:blip r:embed="rId2"/>
          <a:stretch>
            <a:fillRect/>
          </a:stretch>
        </p:blipFill>
        <p:spPr>
          <a:xfrm>
            <a:off x="3566160" y="1623060"/>
            <a:ext cx="228600" cy="228600"/>
          </a:xfrm>
          <a:prstGeom prst="rect">
            <a:avLst/>
          </a:prstGeom>
        </p:spPr>
      </p:pic>
      <p:sp>
        <p:nvSpPr>
          <p:cNvPr id="14" name="Text 10"/>
          <p:cNvSpPr txBox="1"/>
          <p:nvPr/>
        </p:nvSpPr>
        <p:spPr>
          <a:xfrm>
            <a:off x="4046220" y="1508760"/>
            <a:ext cx="1737360" cy="457200"/>
          </a:xfrm>
          <a:prstGeom prst="rect">
            <a:avLst/>
          </a:prstGeom>
          <a:noFill/>
          <a:ln/>
        </p:spPr>
        <p:txBody>
          <a:bodyPr wrap="square" lIns="0" tIns="0" rIns="0" bIns="0" rtlCol="0" anchor="ctr"/>
          <a:lstStyle/>
          <a:p>
            <a:pPr indent="0" marL="0">
              <a:buNone/>
            </a:pPr>
            <a:r>
              <a:rPr lang="en-US" sz="1500" b="1" dirty="0">
                <a:solidFill>
                  <a:srgbClr val="0F2A43"/>
                </a:solidFill>
                <a:latin typeface="Calibri" pitchFamily="34" charset="0"/>
                <a:ea typeface="Calibri" pitchFamily="34" charset="-122"/>
                <a:cs typeface="Calibri" pitchFamily="34" charset="-120"/>
              </a:rPr>
              <a:t>Battery level</a:t>
            </a:r>
            <a:endParaRPr lang="en-US" sz="1500" dirty="0"/>
          </a:p>
        </p:txBody>
      </p:sp>
      <p:sp>
        <p:nvSpPr>
          <p:cNvPr id="15" name="Text 11"/>
          <p:cNvSpPr txBox="1"/>
          <p:nvPr/>
        </p:nvSpPr>
        <p:spPr>
          <a:xfrm>
            <a:off x="3451860" y="2103120"/>
            <a:ext cx="22402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How much battery is left. Every move uses it up.</a:t>
            </a:r>
            <a:endParaRPr lang="en-US" sz="1200" dirty="0"/>
          </a:p>
        </p:txBody>
      </p:sp>
      <p:sp>
        <p:nvSpPr>
          <p:cNvPr id="16" name="Shape 12"/>
          <p:cNvSpPr/>
          <p:nvPr/>
        </p:nvSpPr>
        <p:spPr>
          <a:xfrm>
            <a:off x="6080760" y="1325880"/>
            <a:ext cx="2606040" cy="1508760"/>
          </a:xfrm>
          <a:prstGeom prst="roundRect">
            <a:avLst>
              <a:gd name="adj" fmla="val 7273"/>
            </a:avLst>
          </a:prstGeom>
          <a:solidFill>
            <a:srgbClr val="EEF5F7"/>
          </a:solidFill>
          <a:ln w="12700">
            <a:solidFill>
              <a:srgbClr val="EEF5F7"/>
            </a:solidFill>
            <a:prstDash val="solid"/>
          </a:ln>
        </p:spPr>
      </p:sp>
      <p:sp>
        <p:nvSpPr>
          <p:cNvPr id="17" name="Shape 13"/>
          <p:cNvSpPr/>
          <p:nvPr/>
        </p:nvSpPr>
        <p:spPr>
          <a:xfrm>
            <a:off x="6263640" y="1508760"/>
            <a:ext cx="457200" cy="457200"/>
          </a:xfrm>
          <a:prstGeom prst="ellipse">
            <a:avLst/>
          </a:prstGeom>
          <a:solidFill>
            <a:srgbClr val="17A398"/>
          </a:solidFill>
          <a:ln/>
        </p:spPr>
      </p:sp>
      <p:pic>
        <p:nvPicPr>
          <p:cNvPr id="18" name="Image 2" descr="preencoded.png">    </p:cNvPr>
          <p:cNvPicPr>
            <a:picLocks noChangeAspect="1"/>
          </p:cNvPicPr>
          <p:nvPr/>
        </p:nvPicPr>
        <p:blipFill>
          <a:blip r:embed="rId3"/>
          <a:stretch>
            <a:fillRect/>
          </a:stretch>
        </p:blipFill>
        <p:spPr>
          <a:xfrm>
            <a:off x="6377940" y="1623060"/>
            <a:ext cx="228600" cy="228600"/>
          </a:xfrm>
          <a:prstGeom prst="rect">
            <a:avLst/>
          </a:prstGeom>
        </p:spPr>
      </p:pic>
      <p:sp>
        <p:nvSpPr>
          <p:cNvPr id="19" name="Text 14"/>
          <p:cNvSpPr txBox="1"/>
          <p:nvPr/>
        </p:nvSpPr>
        <p:spPr>
          <a:xfrm>
            <a:off x="6858000" y="1508760"/>
            <a:ext cx="1737360" cy="457200"/>
          </a:xfrm>
          <a:prstGeom prst="rect">
            <a:avLst/>
          </a:prstGeom>
          <a:noFill/>
          <a:ln/>
        </p:spPr>
        <p:txBody>
          <a:bodyPr wrap="square" lIns="0" tIns="0" rIns="0" bIns="0" rtlCol="0" anchor="ctr"/>
          <a:lstStyle/>
          <a:p>
            <a:pPr indent="0" marL="0">
              <a:buNone/>
            </a:pPr>
            <a:r>
              <a:rPr lang="en-US" sz="1500" b="1" dirty="0">
                <a:solidFill>
                  <a:srgbClr val="0F2A43"/>
                </a:solidFill>
                <a:latin typeface="Calibri" pitchFamily="34" charset="0"/>
                <a:ea typeface="Calibri" pitchFamily="34" charset="-122"/>
                <a:cs typeface="Calibri" pitchFamily="34" charset="-120"/>
              </a:rPr>
              <a:t>Packages carried</a:t>
            </a:r>
            <a:endParaRPr lang="en-US" sz="1500" dirty="0"/>
          </a:p>
        </p:txBody>
      </p:sp>
      <p:sp>
        <p:nvSpPr>
          <p:cNvPr id="20" name="Text 15"/>
          <p:cNvSpPr txBox="1"/>
          <p:nvPr/>
        </p:nvSpPr>
        <p:spPr>
          <a:xfrm>
            <a:off x="6263640" y="2103120"/>
            <a:ext cx="22402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Which deliveries are on board at the moment.</a:t>
            </a:r>
            <a:endParaRPr lang="en-US" sz="1200" dirty="0"/>
          </a:p>
        </p:txBody>
      </p:sp>
      <p:sp>
        <p:nvSpPr>
          <p:cNvPr id="21" name="Shape 16"/>
          <p:cNvSpPr/>
          <p:nvPr/>
        </p:nvSpPr>
        <p:spPr>
          <a:xfrm>
            <a:off x="457200" y="3063240"/>
            <a:ext cx="2606040" cy="1508760"/>
          </a:xfrm>
          <a:prstGeom prst="roundRect">
            <a:avLst>
              <a:gd name="adj" fmla="val 7273"/>
            </a:avLst>
          </a:prstGeom>
          <a:solidFill>
            <a:srgbClr val="EEF5F7"/>
          </a:solidFill>
          <a:ln w="12700">
            <a:solidFill>
              <a:srgbClr val="EEF5F7"/>
            </a:solidFill>
            <a:prstDash val="solid"/>
          </a:ln>
        </p:spPr>
      </p:sp>
      <p:sp>
        <p:nvSpPr>
          <p:cNvPr id="22" name="Shape 17"/>
          <p:cNvSpPr/>
          <p:nvPr/>
        </p:nvSpPr>
        <p:spPr>
          <a:xfrm>
            <a:off x="640080" y="3246120"/>
            <a:ext cx="457200" cy="457200"/>
          </a:xfrm>
          <a:prstGeom prst="ellipse">
            <a:avLst/>
          </a:prstGeom>
          <a:solidFill>
            <a:srgbClr val="17A398"/>
          </a:solidFill>
          <a:ln/>
        </p:spPr>
      </p:sp>
      <p:pic>
        <p:nvPicPr>
          <p:cNvPr id="23" name="Image 3" descr="preencoded.png">    </p:cNvPr>
          <p:cNvPicPr>
            <a:picLocks noChangeAspect="1"/>
          </p:cNvPicPr>
          <p:nvPr/>
        </p:nvPicPr>
        <p:blipFill>
          <a:blip r:embed="rId4"/>
          <a:stretch>
            <a:fillRect/>
          </a:stretch>
        </p:blipFill>
        <p:spPr>
          <a:xfrm>
            <a:off x="754380" y="3360420"/>
            <a:ext cx="228600" cy="228600"/>
          </a:xfrm>
          <a:prstGeom prst="rect">
            <a:avLst/>
          </a:prstGeom>
        </p:spPr>
      </p:pic>
      <p:sp>
        <p:nvSpPr>
          <p:cNvPr id="24" name="Text 18"/>
          <p:cNvSpPr txBox="1"/>
          <p:nvPr/>
        </p:nvSpPr>
        <p:spPr>
          <a:xfrm>
            <a:off x="1234440" y="3246120"/>
            <a:ext cx="1737360" cy="457200"/>
          </a:xfrm>
          <a:prstGeom prst="rect">
            <a:avLst/>
          </a:prstGeom>
          <a:noFill/>
          <a:ln/>
        </p:spPr>
        <p:txBody>
          <a:bodyPr wrap="square" lIns="0" tIns="0" rIns="0" bIns="0" rtlCol="0" anchor="ctr"/>
          <a:lstStyle/>
          <a:p>
            <a:pPr indent="0" marL="0">
              <a:buNone/>
            </a:pPr>
            <a:r>
              <a:rPr lang="en-US" sz="1500" b="1" dirty="0">
                <a:solidFill>
                  <a:srgbClr val="0F2A43"/>
                </a:solidFill>
                <a:latin typeface="Calibri" pitchFamily="34" charset="0"/>
                <a:ea typeface="Calibri" pitchFamily="34" charset="-122"/>
                <a:cs typeface="Calibri" pitchFamily="34" charset="-120"/>
              </a:rPr>
              <a:t>The full map</a:t>
            </a:r>
            <a:endParaRPr lang="en-US" sz="1500" dirty="0"/>
          </a:p>
        </p:txBody>
      </p:sp>
      <p:sp>
        <p:nvSpPr>
          <p:cNvPr id="25" name="Text 19"/>
          <p:cNvSpPr txBox="1"/>
          <p:nvPr/>
        </p:nvSpPr>
        <p:spPr>
          <a:xfrm>
            <a:off x="640080" y="3840480"/>
            <a:ext cx="22402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Where the no-fly zones are, and the wind direction and strength in every wind cell.</a:t>
            </a:r>
            <a:endParaRPr lang="en-US" sz="1200" dirty="0"/>
          </a:p>
        </p:txBody>
      </p:sp>
      <p:sp>
        <p:nvSpPr>
          <p:cNvPr id="26" name="Shape 20"/>
          <p:cNvSpPr/>
          <p:nvPr/>
        </p:nvSpPr>
        <p:spPr>
          <a:xfrm>
            <a:off x="3268980" y="3063240"/>
            <a:ext cx="2606040" cy="1508760"/>
          </a:xfrm>
          <a:prstGeom prst="roundRect">
            <a:avLst>
              <a:gd name="adj" fmla="val 7273"/>
            </a:avLst>
          </a:prstGeom>
          <a:solidFill>
            <a:srgbClr val="EEF5F7"/>
          </a:solidFill>
          <a:ln w="12700">
            <a:solidFill>
              <a:srgbClr val="EEF5F7"/>
            </a:solidFill>
            <a:prstDash val="solid"/>
          </a:ln>
        </p:spPr>
      </p:sp>
      <p:sp>
        <p:nvSpPr>
          <p:cNvPr id="27" name="Shape 21"/>
          <p:cNvSpPr/>
          <p:nvPr/>
        </p:nvSpPr>
        <p:spPr>
          <a:xfrm>
            <a:off x="3451860" y="3246120"/>
            <a:ext cx="457200" cy="457200"/>
          </a:xfrm>
          <a:prstGeom prst="ellipse">
            <a:avLst/>
          </a:prstGeom>
          <a:solidFill>
            <a:srgbClr val="17A398"/>
          </a:solidFill>
          <a:ln/>
        </p:spPr>
      </p:sp>
      <p:pic>
        <p:nvPicPr>
          <p:cNvPr id="28" name="Image 4" descr="preencoded.png">    </p:cNvPr>
          <p:cNvPicPr>
            <a:picLocks noChangeAspect="1"/>
          </p:cNvPicPr>
          <p:nvPr/>
        </p:nvPicPr>
        <p:blipFill>
          <a:blip r:embed="rId5"/>
          <a:stretch>
            <a:fillRect/>
          </a:stretch>
        </p:blipFill>
        <p:spPr>
          <a:xfrm>
            <a:off x="3566160" y="3360420"/>
            <a:ext cx="228600" cy="228600"/>
          </a:xfrm>
          <a:prstGeom prst="rect">
            <a:avLst/>
          </a:prstGeom>
        </p:spPr>
      </p:pic>
      <p:sp>
        <p:nvSpPr>
          <p:cNvPr id="29" name="Text 22"/>
          <p:cNvSpPr txBox="1"/>
          <p:nvPr/>
        </p:nvSpPr>
        <p:spPr>
          <a:xfrm>
            <a:off x="4046220" y="3246120"/>
            <a:ext cx="1737360" cy="457200"/>
          </a:xfrm>
          <a:prstGeom prst="rect">
            <a:avLst/>
          </a:prstGeom>
          <a:noFill/>
          <a:ln/>
        </p:spPr>
        <p:txBody>
          <a:bodyPr wrap="square" lIns="0" tIns="0" rIns="0" bIns="0" rtlCol="0" anchor="ctr"/>
          <a:lstStyle/>
          <a:p>
            <a:pPr indent="0" marL="0">
              <a:buNone/>
            </a:pPr>
            <a:r>
              <a:rPr lang="en-US" sz="1500" b="1" dirty="0">
                <a:solidFill>
                  <a:srgbClr val="0F2A43"/>
                </a:solidFill>
                <a:latin typeface="Calibri" pitchFamily="34" charset="0"/>
                <a:ea typeface="Calibri" pitchFamily="34" charset="-122"/>
                <a:cs typeface="Calibri" pitchFamily="34" charset="-120"/>
              </a:rPr>
              <a:t>Pending deliveries</a:t>
            </a:r>
            <a:endParaRPr lang="en-US" sz="1500" dirty="0"/>
          </a:p>
        </p:txBody>
      </p:sp>
      <p:sp>
        <p:nvSpPr>
          <p:cNvPr id="30" name="Text 23"/>
          <p:cNvSpPr txBox="1"/>
          <p:nvPr/>
        </p:nvSpPr>
        <p:spPr>
          <a:xfrm>
            <a:off x="3451860" y="3840480"/>
            <a:ext cx="22402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The list of requests, each with a pickup location and a drop-off location.</a:t>
            </a:r>
            <a:endParaRPr lang="en-US" sz="1200" dirty="0"/>
          </a:p>
        </p:txBody>
      </p:sp>
      <p:sp>
        <p:nvSpPr>
          <p:cNvPr id="31" name="Shape 24"/>
          <p:cNvSpPr/>
          <p:nvPr/>
        </p:nvSpPr>
        <p:spPr>
          <a:xfrm>
            <a:off x="6080760" y="3063240"/>
            <a:ext cx="2606040" cy="1508760"/>
          </a:xfrm>
          <a:prstGeom prst="roundRect">
            <a:avLst>
              <a:gd name="adj" fmla="val 7273"/>
            </a:avLst>
          </a:prstGeom>
          <a:solidFill>
            <a:srgbClr val="0F2A43"/>
          </a:solidFill>
          <a:ln w="12700">
            <a:solidFill>
              <a:srgbClr val="0F2A43"/>
            </a:solidFill>
            <a:prstDash val="solid"/>
          </a:ln>
        </p:spPr>
      </p:sp>
      <p:sp>
        <p:nvSpPr>
          <p:cNvPr id="32" name="Text 25"/>
          <p:cNvSpPr txBox="1"/>
          <p:nvPr/>
        </p:nvSpPr>
        <p:spPr>
          <a:xfrm>
            <a:off x="6263640" y="3063240"/>
            <a:ext cx="2240280" cy="1508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drone plans with the whole map known in advance. It does not learn: it searches.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Agent Decisions</a:t>
            </a:r>
            <a:endParaRPr lang="en-US" sz="3000" dirty="0"/>
          </a:p>
        </p:txBody>
      </p:sp>
      <p:sp>
        <p:nvSpPr>
          <p:cNvPr id="3" name="Shape 1"/>
          <p:cNvSpPr/>
          <p:nvPr/>
        </p:nvSpPr>
        <p:spPr>
          <a:xfrm>
            <a:off x="457200" y="886968"/>
            <a:ext cx="457200" cy="274320"/>
          </a:xfrm>
          <a:prstGeom prst="roundRect">
            <a:avLst>
              <a:gd name="adj" fmla="val 50000"/>
            </a:avLst>
          </a:prstGeom>
          <a:solidFill>
            <a:srgbClr val="17A398"/>
          </a:solidFill>
          <a:ln/>
        </p:spPr>
      </p:sp>
      <p:sp>
        <p:nvSpPr>
          <p:cNvPr id="4" name="Text 2"/>
          <p:cNvSpPr txBox="1"/>
          <p:nvPr/>
        </p:nvSpPr>
        <p:spPr>
          <a:xfrm>
            <a:off x="457200" y="88696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5" name="Text 3"/>
          <p:cNvSpPr txBox="1"/>
          <p:nvPr/>
        </p:nvSpPr>
        <p:spPr>
          <a:xfrm>
            <a:off x="1051560" y="886968"/>
            <a:ext cx="731520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What decisions can the agent make?</a:t>
            </a:r>
            <a:endParaRPr lang="en-US" sz="1400" dirty="0"/>
          </a:p>
        </p:txBody>
      </p:sp>
      <p:sp>
        <p:nvSpPr>
          <p:cNvPr id="6" name="Shape 4"/>
          <p:cNvSpPr/>
          <p:nvPr/>
        </p:nvSpPr>
        <p:spPr>
          <a:xfrm>
            <a:off x="457200" y="1325880"/>
            <a:ext cx="4023360" cy="3383280"/>
          </a:xfrm>
          <a:prstGeom prst="roundRect">
            <a:avLst>
              <a:gd name="adj" fmla="val 3243"/>
            </a:avLst>
          </a:prstGeom>
          <a:solidFill>
            <a:srgbClr val="EEF5F7"/>
          </a:solidFill>
          <a:ln w="12700">
            <a:solidFill>
              <a:srgbClr val="EEF5F7"/>
            </a:solidFill>
            <a:prstDash val="solid"/>
          </a:ln>
        </p:spPr>
      </p:sp>
      <p:sp>
        <p:nvSpPr>
          <p:cNvPr id="7" name="Text 5"/>
          <p:cNvSpPr txBox="1"/>
          <p:nvPr/>
        </p:nvSpPr>
        <p:spPr>
          <a:xfrm>
            <a:off x="640080" y="1417320"/>
            <a:ext cx="3657600" cy="320040"/>
          </a:xfrm>
          <a:prstGeom prst="rect">
            <a:avLst/>
          </a:prstGeom>
          <a:noFill/>
          <a:ln/>
        </p:spPr>
        <p:txBody>
          <a:bodyPr wrap="square" lIns="0" tIns="0" rIns="0" bIns="0" rtlCol="0" anchor="ctr"/>
          <a:lstStyle/>
          <a:p>
            <a:pPr indent="0" marL="0">
              <a:buNone/>
            </a:pPr>
            <a:r>
              <a:rPr lang="en-US" sz="1600" b="1" dirty="0">
                <a:solidFill>
                  <a:srgbClr val="0F2A43"/>
                </a:solidFill>
                <a:latin typeface="Calibri" pitchFamily="34" charset="0"/>
                <a:ea typeface="Calibri" pitchFamily="34" charset="-122"/>
                <a:cs typeface="Calibri" pitchFamily="34" charset="-120"/>
              </a:rPr>
              <a:t>Every step</a:t>
            </a:r>
            <a:endParaRPr lang="en-US" sz="1600" dirty="0"/>
          </a:p>
        </p:txBody>
      </p:sp>
      <p:sp>
        <p:nvSpPr>
          <p:cNvPr id="8" name="Shape 6"/>
          <p:cNvSpPr/>
          <p:nvPr/>
        </p:nvSpPr>
        <p:spPr>
          <a:xfrm>
            <a:off x="640080" y="1874520"/>
            <a:ext cx="457200" cy="457200"/>
          </a:xfrm>
          <a:prstGeom prst="ellipse">
            <a:avLst/>
          </a:prstGeom>
          <a:solidFill>
            <a:srgbClr val="17A398"/>
          </a:solidFill>
          <a:ln/>
        </p:spPr>
      </p:sp>
      <p:pic>
        <p:nvPicPr>
          <p:cNvPr id="9" name="Image 0" descr="preencoded.png">    </p:cNvPr>
          <p:cNvPicPr>
            <a:picLocks noChangeAspect="1"/>
          </p:cNvPicPr>
          <p:nvPr/>
        </p:nvPicPr>
        <p:blipFill>
          <a:blip r:embed="rId1"/>
          <a:stretch>
            <a:fillRect/>
          </a:stretch>
        </p:blipFill>
        <p:spPr>
          <a:xfrm>
            <a:off x="754380" y="1988820"/>
            <a:ext cx="228600" cy="228600"/>
          </a:xfrm>
          <a:prstGeom prst="rect">
            <a:avLst/>
          </a:prstGeom>
        </p:spPr>
      </p:pic>
      <p:sp>
        <p:nvSpPr>
          <p:cNvPr id="10" name="Text 7"/>
          <p:cNvSpPr txBox="1"/>
          <p:nvPr/>
        </p:nvSpPr>
        <p:spPr>
          <a:xfrm>
            <a:off x="1234440" y="1828800"/>
            <a:ext cx="3108960" cy="548640"/>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Move</a:t>
            </a:r>
            <a:endParaRPr lang="en-US" sz="1250" dirty="0"/>
          </a:p>
          <a:p>
            <a:pPr indent="0" marL="0">
              <a:buNone/>
            </a:pPr>
            <a:r>
              <a:rPr lang="en-US" sz="1250" dirty="0">
                <a:solidFill>
                  <a:srgbClr val="5B6B7A"/>
                </a:solidFill>
                <a:latin typeface="Calibri" pitchFamily="34" charset="0"/>
                <a:ea typeface="Calibri" pitchFamily="34" charset="-122"/>
                <a:cs typeface="Calibri" pitchFamily="34" charset="-120"/>
              </a:rPr>
              <a:t>up, down, left or right to a neighbouring cell</a:t>
            </a:r>
            <a:endParaRPr lang="en-US" sz="1250" dirty="0"/>
          </a:p>
        </p:txBody>
      </p:sp>
      <p:sp>
        <p:nvSpPr>
          <p:cNvPr id="11" name="Shape 8"/>
          <p:cNvSpPr/>
          <p:nvPr/>
        </p:nvSpPr>
        <p:spPr>
          <a:xfrm>
            <a:off x="640080" y="2578608"/>
            <a:ext cx="457200" cy="457200"/>
          </a:xfrm>
          <a:prstGeom prst="ellipse">
            <a:avLst/>
          </a:prstGeom>
          <a:solidFill>
            <a:srgbClr val="17A398"/>
          </a:solidFill>
          <a:ln/>
        </p:spPr>
      </p:sp>
      <p:pic>
        <p:nvPicPr>
          <p:cNvPr id="12" name="Image 1" descr="preencoded.png">    </p:cNvPr>
          <p:cNvPicPr>
            <a:picLocks noChangeAspect="1"/>
          </p:cNvPicPr>
          <p:nvPr/>
        </p:nvPicPr>
        <p:blipFill>
          <a:blip r:embed="rId2"/>
          <a:stretch>
            <a:fillRect/>
          </a:stretch>
        </p:blipFill>
        <p:spPr>
          <a:xfrm>
            <a:off x="754380" y="2692908"/>
            <a:ext cx="228600" cy="228600"/>
          </a:xfrm>
          <a:prstGeom prst="rect">
            <a:avLst/>
          </a:prstGeom>
        </p:spPr>
      </p:pic>
      <p:sp>
        <p:nvSpPr>
          <p:cNvPr id="13" name="Text 9"/>
          <p:cNvSpPr txBox="1"/>
          <p:nvPr/>
        </p:nvSpPr>
        <p:spPr>
          <a:xfrm>
            <a:off x="1234440" y="2532888"/>
            <a:ext cx="3108960" cy="548640"/>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Pick up</a:t>
            </a:r>
            <a:endParaRPr lang="en-US" sz="1250" dirty="0"/>
          </a:p>
          <a:p>
            <a:pPr indent="0" marL="0">
              <a:buNone/>
            </a:pPr>
            <a:r>
              <a:rPr lang="en-US" sz="1250" dirty="0">
                <a:solidFill>
                  <a:srgbClr val="5B6B7A"/>
                </a:solidFill>
                <a:latin typeface="Calibri" pitchFamily="34" charset="0"/>
                <a:ea typeface="Calibri" pitchFamily="34" charset="-122"/>
                <a:cs typeface="Calibri" pitchFamily="34" charset="-120"/>
              </a:rPr>
              <a:t>a package at its pickup location</a:t>
            </a:r>
            <a:endParaRPr lang="en-US" sz="1250" dirty="0"/>
          </a:p>
        </p:txBody>
      </p:sp>
      <p:sp>
        <p:nvSpPr>
          <p:cNvPr id="14" name="Shape 10"/>
          <p:cNvSpPr/>
          <p:nvPr/>
        </p:nvSpPr>
        <p:spPr>
          <a:xfrm>
            <a:off x="640080" y="3282696"/>
            <a:ext cx="457200" cy="457200"/>
          </a:xfrm>
          <a:prstGeom prst="ellipse">
            <a:avLst/>
          </a:prstGeom>
          <a:solidFill>
            <a:srgbClr val="17A398"/>
          </a:solidFill>
          <a:ln/>
        </p:spPr>
      </p:sp>
      <p:pic>
        <p:nvPicPr>
          <p:cNvPr id="15" name="Image 2" descr="preencoded.png">    </p:cNvPr>
          <p:cNvPicPr>
            <a:picLocks noChangeAspect="1"/>
          </p:cNvPicPr>
          <p:nvPr/>
        </p:nvPicPr>
        <p:blipFill>
          <a:blip r:embed="rId3"/>
          <a:stretch>
            <a:fillRect/>
          </a:stretch>
        </p:blipFill>
        <p:spPr>
          <a:xfrm>
            <a:off x="754380" y="3396996"/>
            <a:ext cx="228600" cy="228600"/>
          </a:xfrm>
          <a:prstGeom prst="rect">
            <a:avLst/>
          </a:prstGeom>
        </p:spPr>
      </p:pic>
      <p:sp>
        <p:nvSpPr>
          <p:cNvPr id="16" name="Text 11"/>
          <p:cNvSpPr txBox="1"/>
          <p:nvPr/>
        </p:nvSpPr>
        <p:spPr>
          <a:xfrm>
            <a:off x="1234440" y="3236976"/>
            <a:ext cx="3108960" cy="548640"/>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Drop off</a:t>
            </a:r>
            <a:endParaRPr lang="en-US" sz="1250" dirty="0"/>
          </a:p>
          <a:p>
            <a:pPr indent="0" marL="0">
              <a:buNone/>
            </a:pPr>
            <a:r>
              <a:rPr lang="en-US" sz="1250" dirty="0">
                <a:solidFill>
                  <a:srgbClr val="5B6B7A"/>
                </a:solidFill>
                <a:latin typeface="Calibri" pitchFamily="34" charset="0"/>
                <a:ea typeface="Calibri" pitchFamily="34" charset="-122"/>
                <a:cs typeface="Calibri" pitchFamily="34" charset="-120"/>
              </a:rPr>
              <a:t>a package at its destination</a:t>
            </a:r>
            <a:endParaRPr lang="en-US" sz="1250" dirty="0"/>
          </a:p>
        </p:txBody>
      </p:sp>
      <p:sp>
        <p:nvSpPr>
          <p:cNvPr id="17" name="Shape 12"/>
          <p:cNvSpPr/>
          <p:nvPr/>
        </p:nvSpPr>
        <p:spPr>
          <a:xfrm>
            <a:off x="640080" y="3986784"/>
            <a:ext cx="457200" cy="457200"/>
          </a:xfrm>
          <a:prstGeom prst="ellipse">
            <a:avLst/>
          </a:prstGeom>
          <a:solidFill>
            <a:srgbClr val="17A398"/>
          </a:solidFill>
          <a:ln/>
        </p:spPr>
      </p:sp>
      <p:pic>
        <p:nvPicPr>
          <p:cNvPr id="18" name="Image 3" descr="preencoded.png">    </p:cNvPr>
          <p:cNvPicPr>
            <a:picLocks noChangeAspect="1"/>
          </p:cNvPicPr>
          <p:nvPr/>
        </p:nvPicPr>
        <p:blipFill>
          <a:blip r:embed="rId4"/>
          <a:stretch>
            <a:fillRect/>
          </a:stretch>
        </p:blipFill>
        <p:spPr>
          <a:xfrm>
            <a:off x="754380" y="4101084"/>
            <a:ext cx="228600" cy="228600"/>
          </a:xfrm>
          <a:prstGeom prst="rect">
            <a:avLst/>
          </a:prstGeom>
        </p:spPr>
      </p:pic>
      <p:sp>
        <p:nvSpPr>
          <p:cNvPr id="19" name="Text 13"/>
          <p:cNvSpPr txBox="1"/>
          <p:nvPr/>
        </p:nvSpPr>
        <p:spPr>
          <a:xfrm>
            <a:off x="1234440" y="3941064"/>
            <a:ext cx="3108960" cy="548640"/>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Return to depot</a:t>
            </a:r>
            <a:endParaRPr lang="en-US" sz="1250" dirty="0"/>
          </a:p>
          <a:p>
            <a:pPr indent="0" marL="0">
              <a:buNone/>
            </a:pPr>
            <a:r>
              <a:rPr lang="en-US" sz="1250" dirty="0">
                <a:solidFill>
                  <a:srgbClr val="5B6B7A"/>
                </a:solidFill>
                <a:latin typeface="Calibri" pitchFamily="34" charset="0"/>
                <a:ea typeface="Calibri" pitchFamily="34" charset="-122"/>
                <a:cs typeface="Calibri" pitchFamily="34" charset="-120"/>
              </a:rPr>
              <a:t>and recharge when the battery is low</a:t>
            </a:r>
            <a:endParaRPr lang="en-US" sz="1250" dirty="0"/>
          </a:p>
        </p:txBody>
      </p:sp>
      <p:sp>
        <p:nvSpPr>
          <p:cNvPr id="20" name="Shape 14"/>
          <p:cNvSpPr/>
          <p:nvPr/>
        </p:nvSpPr>
        <p:spPr>
          <a:xfrm>
            <a:off x="4663440" y="1325880"/>
            <a:ext cx="4023360" cy="3383280"/>
          </a:xfrm>
          <a:prstGeom prst="roundRect">
            <a:avLst>
              <a:gd name="adj" fmla="val 3243"/>
            </a:avLst>
          </a:prstGeom>
          <a:solidFill>
            <a:srgbClr val="EEF5F7"/>
          </a:solidFill>
          <a:ln w="12700">
            <a:solidFill>
              <a:srgbClr val="EEF5F7"/>
            </a:solidFill>
            <a:prstDash val="solid"/>
          </a:ln>
        </p:spPr>
      </p:sp>
      <p:sp>
        <p:nvSpPr>
          <p:cNvPr id="21" name="Text 15"/>
          <p:cNvSpPr txBox="1"/>
          <p:nvPr/>
        </p:nvSpPr>
        <p:spPr>
          <a:xfrm>
            <a:off x="4846320" y="1417320"/>
            <a:ext cx="3657600" cy="320040"/>
          </a:xfrm>
          <a:prstGeom prst="rect">
            <a:avLst/>
          </a:prstGeom>
          <a:noFill/>
          <a:ln/>
        </p:spPr>
        <p:txBody>
          <a:bodyPr wrap="square" lIns="0" tIns="0" rIns="0" bIns="0" rtlCol="0" anchor="ctr"/>
          <a:lstStyle/>
          <a:p>
            <a:pPr indent="0" marL="0">
              <a:buNone/>
            </a:pPr>
            <a:r>
              <a:rPr lang="en-US" sz="1600" b="1" dirty="0">
                <a:solidFill>
                  <a:srgbClr val="0F2A43"/>
                </a:solidFill>
                <a:latin typeface="Calibri" pitchFamily="34" charset="0"/>
                <a:ea typeface="Calibri" pitchFamily="34" charset="-122"/>
                <a:cs typeface="Calibri" pitchFamily="34" charset="-120"/>
              </a:rPr>
              <a:t>Planning the mission</a:t>
            </a:r>
            <a:endParaRPr lang="en-US" sz="1600" dirty="0"/>
          </a:p>
        </p:txBody>
      </p:sp>
      <p:sp>
        <p:nvSpPr>
          <p:cNvPr id="22" name="Shape 16"/>
          <p:cNvSpPr/>
          <p:nvPr/>
        </p:nvSpPr>
        <p:spPr>
          <a:xfrm>
            <a:off x="4846320" y="1874520"/>
            <a:ext cx="457200" cy="457200"/>
          </a:xfrm>
          <a:prstGeom prst="ellipse">
            <a:avLst/>
          </a:prstGeom>
          <a:solidFill>
            <a:srgbClr val="17A398"/>
          </a:solidFill>
          <a:ln/>
        </p:spPr>
      </p:sp>
      <p:pic>
        <p:nvPicPr>
          <p:cNvPr id="23" name="Image 4" descr="preencoded.png">    </p:cNvPr>
          <p:cNvPicPr>
            <a:picLocks noChangeAspect="1"/>
          </p:cNvPicPr>
          <p:nvPr/>
        </p:nvPicPr>
        <p:blipFill>
          <a:blip r:embed="rId5"/>
          <a:stretch>
            <a:fillRect/>
          </a:stretch>
        </p:blipFill>
        <p:spPr>
          <a:xfrm>
            <a:off x="4960620" y="1988820"/>
            <a:ext cx="228600" cy="228600"/>
          </a:xfrm>
          <a:prstGeom prst="rect">
            <a:avLst/>
          </a:prstGeom>
        </p:spPr>
      </p:pic>
      <p:sp>
        <p:nvSpPr>
          <p:cNvPr id="24" name="Text 17"/>
          <p:cNvSpPr txBox="1"/>
          <p:nvPr/>
        </p:nvSpPr>
        <p:spPr>
          <a:xfrm>
            <a:off x="5440680" y="1828800"/>
            <a:ext cx="3108960" cy="548640"/>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Which delivery next</a:t>
            </a:r>
            <a:endParaRPr lang="en-US" sz="1250" dirty="0"/>
          </a:p>
          <a:p>
            <a:pPr indent="0" marL="0">
              <a:buNone/>
            </a:pPr>
            <a:r>
              <a:rPr lang="en-US" sz="1250" dirty="0">
                <a:solidFill>
                  <a:srgbClr val="5B6B7A"/>
                </a:solidFill>
                <a:latin typeface="Calibri" pitchFamily="34" charset="0"/>
                <a:ea typeface="Calibri" pitchFamily="34" charset="-122"/>
                <a:cs typeface="Calibri" pitchFamily="34" charset="-120"/>
              </a:rPr>
              <a:t>nearest neighbour, then 2-opt</a:t>
            </a:r>
            <a:endParaRPr lang="en-US" sz="1250" dirty="0"/>
          </a:p>
        </p:txBody>
      </p:sp>
      <p:sp>
        <p:nvSpPr>
          <p:cNvPr id="25" name="Shape 18"/>
          <p:cNvSpPr/>
          <p:nvPr/>
        </p:nvSpPr>
        <p:spPr>
          <a:xfrm>
            <a:off x="4846320" y="2578608"/>
            <a:ext cx="457200" cy="457200"/>
          </a:xfrm>
          <a:prstGeom prst="ellipse">
            <a:avLst/>
          </a:prstGeom>
          <a:solidFill>
            <a:srgbClr val="17A398"/>
          </a:solidFill>
          <a:ln/>
        </p:spPr>
      </p:sp>
      <p:pic>
        <p:nvPicPr>
          <p:cNvPr id="26" name="Image 5" descr="preencoded.png">    </p:cNvPr>
          <p:cNvPicPr>
            <a:picLocks noChangeAspect="1"/>
          </p:cNvPicPr>
          <p:nvPr/>
        </p:nvPicPr>
        <p:blipFill>
          <a:blip r:embed="rId6"/>
          <a:stretch>
            <a:fillRect/>
          </a:stretch>
        </p:blipFill>
        <p:spPr>
          <a:xfrm>
            <a:off x="4960620" y="2692908"/>
            <a:ext cx="228600" cy="228600"/>
          </a:xfrm>
          <a:prstGeom prst="rect">
            <a:avLst/>
          </a:prstGeom>
        </p:spPr>
      </p:pic>
      <p:sp>
        <p:nvSpPr>
          <p:cNvPr id="27" name="Text 19"/>
          <p:cNvSpPr txBox="1"/>
          <p:nvPr/>
        </p:nvSpPr>
        <p:spPr>
          <a:xfrm>
            <a:off x="5440680" y="2532888"/>
            <a:ext cx="3108960" cy="548640"/>
          </a:xfrm>
          <a:prstGeom prst="rect">
            <a:avLst/>
          </a:prstGeom>
          <a:noFill/>
          <a:ln/>
        </p:spPr>
        <p:txBody>
          <a:bodyPr wrap="square" lIns="0" tIns="0" rIns="0" bIns="0" rtlCol="0" anchor="ctr"/>
          <a:lstStyle/>
          <a:p>
            <a:pPr indent="0" marL="0">
              <a:buNone/>
            </a:pPr>
            <a:r>
              <a:rPr lang="en-US" sz="1250" b="1" dirty="0">
                <a:solidFill>
                  <a:srgbClr val="0F2A43"/>
                </a:solidFill>
                <a:latin typeface="Calibri" pitchFamily="34" charset="0"/>
                <a:ea typeface="Calibri" pitchFamily="34" charset="-122"/>
                <a:cs typeface="Calibri" pitchFamily="34" charset="-120"/>
              </a:rPr>
              <a:t>Which route to follow</a:t>
            </a:r>
            <a:endParaRPr lang="en-US" sz="1250" dirty="0"/>
          </a:p>
          <a:p>
            <a:pPr indent="0" marL="0">
              <a:buNone/>
            </a:pPr>
            <a:r>
              <a:rPr lang="en-US" sz="1250" dirty="0">
                <a:solidFill>
                  <a:srgbClr val="5B6B7A"/>
                </a:solidFill>
                <a:latin typeface="Calibri" pitchFamily="34" charset="0"/>
                <a:ea typeface="Calibri" pitchFamily="34" charset="-122"/>
                <a:cs typeface="Calibri" pitchFamily="34" charset="-120"/>
              </a:rPr>
              <a:t>A* with the wind-aware cost</a:t>
            </a:r>
            <a:endParaRPr lang="en-US" sz="1250" dirty="0"/>
          </a:p>
        </p:txBody>
      </p:sp>
      <p:sp>
        <p:nvSpPr>
          <p:cNvPr id="28" name="Shape 20"/>
          <p:cNvSpPr/>
          <p:nvPr/>
        </p:nvSpPr>
        <p:spPr>
          <a:xfrm>
            <a:off x="4846320" y="3383280"/>
            <a:ext cx="3657600" cy="1143000"/>
          </a:xfrm>
          <a:prstGeom prst="roundRect">
            <a:avLst>
              <a:gd name="adj" fmla="val 9600"/>
            </a:avLst>
          </a:prstGeom>
          <a:solidFill>
            <a:srgbClr val="0F2A43"/>
          </a:solidFill>
          <a:ln w="12700">
            <a:solidFill>
              <a:srgbClr val="0F2A43"/>
            </a:solidFill>
            <a:prstDash val="solid"/>
          </a:ln>
        </p:spPr>
      </p:sp>
      <p:sp>
        <p:nvSpPr>
          <p:cNvPr id="29" name="Text 21"/>
          <p:cNvSpPr txBox="1"/>
          <p:nvPr/>
        </p:nvSpPr>
        <p:spPr>
          <a:xfrm>
            <a:off x="4983480" y="3383280"/>
            <a:ext cx="3383280" cy="1143000"/>
          </a:xfrm>
          <a:prstGeom prst="rect">
            <a:avLst/>
          </a:prstGeom>
          <a:noFill/>
          <a:ln/>
        </p:spPr>
        <p:txBody>
          <a:bodyPr wrap="square" lIns="0" tIns="0" rIns="0" bIns="0" rtlCol="0" anchor="ctr"/>
          <a:lstStyle/>
          <a:p>
            <a:pPr indent="0" marL="0">
              <a:buNone/>
            </a:pPr>
            <a:r>
              <a:rPr lang="en-US" sz="1200" b="1" dirty="0">
                <a:solidFill>
                  <a:srgbClr val="F4A259"/>
                </a:solidFill>
                <a:latin typeface="Calibri" pitchFamily="34" charset="0"/>
                <a:ea typeface="Calibri" pitchFamily="34" charset="-122"/>
                <a:cs typeface="Calibri" pitchFamily="34" charset="-120"/>
              </a:rPr>
              <a:t>Recharge or go?</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Before each leg the battery must cover that leg plus the flight from the stop back to the depot. If not, recharge first.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Classical AI Techniques</a:t>
            </a:r>
            <a:endParaRPr lang="en-US" sz="3000" dirty="0"/>
          </a:p>
        </p:txBody>
      </p:sp>
      <p:sp>
        <p:nvSpPr>
          <p:cNvPr id="3" name="Shape 1"/>
          <p:cNvSpPr/>
          <p:nvPr/>
        </p:nvSpPr>
        <p:spPr>
          <a:xfrm>
            <a:off x="457200" y="886968"/>
            <a:ext cx="457200" cy="274320"/>
          </a:xfrm>
          <a:prstGeom prst="roundRect">
            <a:avLst>
              <a:gd name="adj" fmla="val 50000"/>
            </a:avLst>
          </a:prstGeom>
          <a:solidFill>
            <a:srgbClr val="17A398"/>
          </a:solidFill>
          <a:ln/>
        </p:spPr>
      </p:sp>
      <p:sp>
        <p:nvSpPr>
          <p:cNvPr id="4" name="Text 2"/>
          <p:cNvSpPr txBox="1"/>
          <p:nvPr/>
        </p:nvSpPr>
        <p:spPr>
          <a:xfrm>
            <a:off x="457200" y="88696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5" name="Text 3"/>
          <p:cNvSpPr txBox="1"/>
          <p:nvPr/>
        </p:nvSpPr>
        <p:spPr>
          <a:xfrm>
            <a:off x="1051560" y="886968"/>
            <a:ext cx="731520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Which classical AI techniques are used?</a:t>
            </a:r>
            <a:endParaRPr lang="en-US" sz="1400" dirty="0"/>
          </a:p>
        </p:txBody>
      </p:sp>
      <p:sp>
        <p:nvSpPr>
          <p:cNvPr id="6" name="Shape 4"/>
          <p:cNvSpPr/>
          <p:nvPr/>
        </p:nvSpPr>
        <p:spPr>
          <a:xfrm>
            <a:off x="457200" y="1325880"/>
            <a:ext cx="2606040" cy="1417320"/>
          </a:xfrm>
          <a:prstGeom prst="roundRect">
            <a:avLst>
              <a:gd name="adj" fmla="val 7742"/>
            </a:avLst>
          </a:prstGeom>
          <a:solidFill>
            <a:srgbClr val="EEF5F7"/>
          </a:solidFill>
          <a:ln w="12700">
            <a:solidFill>
              <a:srgbClr val="EEF5F7"/>
            </a:solidFill>
            <a:prstDash val="solid"/>
          </a:ln>
        </p:spPr>
      </p:sp>
      <p:sp>
        <p:nvSpPr>
          <p:cNvPr id="7" name="Shape 5"/>
          <p:cNvSpPr/>
          <p:nvPr/>
        </p:nvSpPr>
        <p:spPr>
          <a:xfrm>
            <a:off x="640080" y="1490472"/>
            <a:ext cx="457200" cy="457200"/>
          </a:xfrm>
          <a:prstGeom prst="ellipse">
            <a:avLst/>
          </a:prstGeom>
          <a:solidFill>
            <a:srgbClr val="17A398"/>
          </a:solidFill>
          <a:ln/>
        </p:spPr>
      </p:sp>
      <p:pic>
        <p:nvPicPr>
          <p:cNvPr id="8" name="Image 0" descr="preencoded.png">    </p:cNvPr>
          <p:cNvPicPr>
            <a:picLocks noChangeAspect="1"/>
          </p:cNvPicPr>
          <p:nvPr/>
        </p:nvPicPr>
        <p:blipFill>
          <a:blip r:embed="rId1"/>
          <a:stretch>
            <a:fillRect/>
          </a:stretch>
        </p:blipFill>
        <p:spPr>
          <a:xfrm>
            <a:off x="754380" y="1604772"/>
            <a:ext cx="228600" cy="228600"/>
          </a:xfrm>
          <a:prstGeom prst="rect">
            <a:avLst/>
          </a:prstGeom>
        </p:spPr>
      </p:pic>
      <p:sp>
        <p:nvSpPr>
          <p:cNvPr id="9" name="Text 6"/>
          <p:cNvSpPr txBox="1"/>
          <p:nvPr/>
        </p:nvSpPr>
        <p:spPr>
          <a:xfrm>
            <a:off x="1234440" y="1490472"/>
            <a:ext cx="1737360" cy="457200"/>
          </a:xfrm>
          <a:prstGeom prst="rect">
            <a:avLst/>
          </a:prstGeom>
          <a:noFill/>
          <a:ln/>
        </p:spPr>
        <p:txBody>
          <a:bodyPr wrap="square" lIns="0" tIns="0" rIns="0" bIns="0" rtlCol="0" anchor="ctr"/>
          <a:lstStyle/>
          <a:p>
            <a:pPr indent="0" marL="0">
              <a:buNone/>
            </a:pPr>
            <a:r>
              <a:rPr lang="en-US" sz="1450" b="1" dirty="0">
                <a:solidFill>
                  <a:srgbClr val="0F2A43"/>
                </a:solidFill>
                <a:latin typeface="Calibri" pitchFamily="34" charset="0"/>
                <a:ea typeface="Calibri" pitchFamily="34" charset="-122"/>
                <a:cs typeface="Calibri" pitchFamily="34" charset="-120"/>
              </a:rPr>
              <a:t>A* search</a:t>
            </a:r>
            <a:endParaRPr lang="en-US" sz="1450" dirty="0"/>
          </a:p>
        </p:txBody>
      </p:sp>
      <p:sp>
        <p:nvSpPr>
          <p:cNvPr id="10" name="Text 7"/>
          <p:cNvSpPr txBox="1"/>
          <p:nvPr/>
        </p:nvSpPr>
        <p:spPr>
          <a:xfrm>
            <a:off x="640080" y="2057400"/>
            <a:ext cx="2240280" cy="64008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Finds the cheapest path between two points using the wind-aware cost.</a:t>
            </a:r>
            <a:endParaRPr lang="en-US" sz="1150" dirty="0"/>
          </a:p>
        </p:txBody>
      </p:sp>
      <p:sp>
        <p:nvSpPr>
          <p:cNvPr id="11" name="Shape 8"/>
          <p:cNvSpPr/>
          <p:nvPr/>
        </p:nvSpPr>
        <p:spPr>
          <a:xfrm>
            <a:off x="3268980" y="1325880"/>
            <a:ext cx="2606040" cy="1417320"/>
          </a:xfrm>
          <a:prstGeom prst="roundRect">
            <a:avLst>
              <a:gd name="adj" fmla="val 7742"/>
            </a:avLst>
          </a:prstGeom>
          <a:solidFill>
            <a:srgbClr val="EEF5F7"/>
          </a:solidFill>
          <a:ln w="12700">
            <a:solidFill>
              <a:srgbClr val="EEF5F7"/>
            </a:solidFill>
            <a:prstDash val="solid"/>
          </a:ln>
        </p:spPr>
      </p:sp>
      <p:sp>
        <p:nvSpPr>
          <p:cNvPr id="12" name="Shape 9"/>
          <p:cNvSpPr/>
          <p:nvPr/>
        </p:nvSpPr>
        <p:spPr>
          <a:xfrm>
            <a:off x="3451860" y="1490472"/>
            <a:ext cx="457200" cy="457200"/>
          </a:xfrm>
          <a:prstGeom prst="ellipse">
            <a:avLst/>
          </a:prstGeom>
          <a:solidFill>
            <a:srgbClr val="17A398"/>
          </a:solidFill>
          <a:ln/>
        </p:spPr>
      </p:sp>
      <p:pic>
        <p:nvPicPr>
          <p:cNvPr id="13" name="Image 1" descr="preencoded.png">    </p:cNvPr>
          <p:cNvPicPr>
            <a:picLocks noChangeAspect="1"/>
          </p:cNvPicPr>
          <p:nvPr/>
        </p:nvPicPr>
        <p:blipFill>
          <a:blip r:embed="rId2"/>
          <a:stretch>
            <a:fillRect/>
          </a:stretch>
        </p:blipFill>
        <p:spPr>
          <a:xfrm>
            <a:off x="3566160" y="1604772"/>
            <a:ext cx="228600" cy="228600"/>
          </a:xfrm>
          <a:prstGeom prst="rect">
            <a:avLst/>
          </a:prstGeom>
        </p:spPr>
      </p:pic>
      <p:sp>
        <p:nvSpPr>
          <p:cNvPr id="14" name="Text 10"/>
          <p:cNvSpPr txBox="1"/>
          <p:nvPr/>
        </p:nvSpPr>
        <p:spPr>
          <a:xfrm>
            <a:off x="4046220" y="1490472"/>
            <a:ext cx="1737360" cy="457200"/>
          </a:xfrm>
          <a:prstGeom prst="rect">
            <a:avLst/>
          </a:prstGeom>
          <a:noFill/>
          <a:ln/>
        </p:spPr>
        <p:txBody>
          <a:bodyPr wrap="square" lIns="0" tIns="0" rIns="0" bIns="0" rtlCol="0" anchor="ctr"/>
          <a:lstStyle/>
          <a:p>
            <a:pPr indent="0" marL="0">
              <a:buNone/>
            </a:pPr>
            <a:r>
              <a:rPr lang="en-US" sz="1450" b="1" dirty="0">
                <a:solidFill>
                  <a:srgbClr val="0F2A43"/>
                </a:solidFill>
                <a:latin typeface="Calibri" pitchFamily="34" charset="0"/>
                <a:ea typeface="Calibri" pitchFamily="34" charset="-122"/>
                <a:cs typeface="Calibri" pitchFamily="34" charset="-120"/>
              </a:rPr>
              <a:t>Uniform-Cost Search</a:t>
            </a:r>
            <a:endParaRPr lang="en-US" sz="1450" dirty="0"/>
          </a:p>
        </p:txBody>
      </p:sp>
      <p:sp>
        <p:nvSpPr>
          <p:cNvPr id="15" name="Text 11"/>
          <p:cNvSpPr txBox="1"/>
          <p:nvPr/>
        </p:nvSpPr>
        <p:spPr>
          <a:xfrm>
            <a:off x="3451860" y="2057400"/>
            <a:ext cx="2240280" cy="64008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Baseline with the same cost function. Checks that A* is optimal.</a:t>
            </a:r>
            <a:endParaRPr lang="en-US" sz="1150" dirty="0"/>
          </a:p>
        </p:txBody>
      </p:sp>
      <p:sp>
        <p:nvSpPr>
          <p:cNvPr id="16" name="Shape 12"/>
          <p:cNvSpPr/>
          <p:nvPr/>
        </p:nvSpPr>
        <p:spPr>
          <a:xfrm>
            <a:off x="6080760" y="1325880"/>
            <a:ext cx="2606040" cy="1417320"/>
          </a:xfrm>
          <a:prstGeom prst="roundRect">
            <a:avLst>
              <a:gd name="adj" fmla="val 7742"/>
            </a:avLst>
          </a:prstGeom>
          <a:solidFill>
            <a:srgbClr val="EEF5F7"/>
          </a:solidFill>
          <a:ln w="12700">
            <a:solidFill>
              <a:srgbClr val="EEF5F7"/>
            </a:solidFill>
            <a:prstDash val="solid"/>
          </a:ln>
        </p:spPr>
      </p:sp>
      <p:sp>
        <p:nvSpPr>
          <p:cNvPr id="17" name="Shape 13"/>
          <p:cNvSpPr/>
          <p:nvPr/>
        </p:nvSpPr>
        <p:spPr>
          <a:xfrm>
            <a:off x="6263640" y="1490472"/>
            <a:ext cx="457200" cy="457200"/>
          </a:xfrm>
          <a:prstGeom prst="ellipse">
            <a:avLst/>
          </a:prstGeom>
          <a:solidFill>
            <a:srgbClr val="17A398"/>
          </a:solidFill>
          <a:ln/>
        </p:spPr>
      </p:sp>
      <p:pic>
        <p:nvPicPr>
          <p:cNvPr id="18" name="Image 2" descr="preencoded.png">    </p:cNvPr>
          <p:cNvPicPr>
            <a:picLocks noChangeAspect="1"/>
          </p:cNvPicPr>
          <p:nvPr/>
        </p:nvPicPr>
        <p:blipFill>
          <a:blip r:embed="rId3"/>
          <a:stretch>
            <a:fillRect/>
          </a:stretch>
        </p:blipFill>
        <p:spPr>
          <a:xfrm>
            <a:off x="6377940" y="1604772"/>
            <a:ext cx="228600" cy="228600"/>
          </a:xfrm>
          <a:prstGeom prst="rect">
            <a:avLst/>
          </a:prstGeom>
        </p:spPr>
      </p:pic>
      <p:sp>
        <p:nvSpPr>
          <p:cNvPr id="19" name="Text 14"/>
          <p:cNvSpPr txBox="1"/>
          <p:nvPr/>
        </p:nvSpPr>
        <p:spPr>
          <a:xfrm>
            <a:off x="6858000" y="1490472"/>
            <a:ext cx="1737360" cy="457200"/>
          </a:xfrm>
          <a:prstGeom prst="rect">
            <a:avLst/>
          </a:prstGeom>
          <a:noFill/>
          <a:ln/>
        </p:spPr>
        <p:txBody>
          <a:bodyPr wrap="square" lIns="0" tIns="0" rIns="0" bIns="0" rtlCol="0" anchor="ctr"/>
          <a:lstStyle/>
          <a:p>
            <a:pPr indent="0" marL="0">
              <a:buNone/>
            </a:pPr>
            <a:r>
              <a:rPr lang="en-US" sz="1450" b="1" dirty="0">
                <a:solidFill>
                  <a:srgbClr val="0F2A43"/>
                </a:solidFill>
                <a:latin typeface="Calibri" pitchFamily="34" charset="0"/>
                <a:ea typeface="Calibri" pitchFamily="34" charset="-122"/>
                <a:cs typeface="Calibri" pitchFamily="34" charset="-120"/>
              </a:rPr>
              <a:t>Manhattan heuristic</a:t>
            </a:r>
            <a:endParaRPr lang="en-US" sz="1450" dirty="0"/>
          </a:p>
        </p:txBody>
      </p:sp>
      <p:sp>
        <p:nvSpPr>
          <p:cNvPr id="20" name="Text 15"/>
          <p:cNvSpPr txBox="1"/>
          <p:nvPr/>
        </p:nvSpPr>
        <p:spPr>
          <a:xfrm>
            <a:off x="6263640" y="2057400"/>
            <a:ext cx="2240280" cy="64008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Admissible because every step costs at least 1, so A* stays optimal.</a:t>
            </a:r>
            <a:endParaRPr lang="en-US" sz="1150" dirty="0"/>
          </a:p>
        </p:txBody>
      </p:sp>
      <p:sp>
        <p:nvSpPr>
          <p:cNvPr id="21" name="Shape 16"/>
          <p:cNvSpPr/>
          <p:nvPr/>
        </p:nvSpPr>
        <p:spPr>
          <a:xfrm>
            <a:off x="457200" y="2926080"/>
            <a:ext cx="2606040" cy="1417320"/>
          </a:xfrm>
          <a:prstGeom prst="roundRect">
            <a:avLst>
              <a:gd name="adj" fmla="val 7742"/>
            </a:avLst>
          </a:prstGeom>
          <a:solidFill>
            <a:srgbClr val="EEF5F7"/>
          </a:solidFill>
          <a:ln w="12700">
            <a:solidFill>
              <a:srgbClr val="EEF5F7"/>
            </a:solidFill>
            <a:prstDash val="solid"/>
          </a:ln>
        </p:spPr>
      </p:sp>
      <p:sp>
        <p:nvSpPr>
          <p:cNvPr id="22" name="Shape 17"/>
          <p:cNvSpPr/>
          <p:nvPr/>
        </p:nvSpPr>
        <p:spPr>
          <a:xfrm>
            <a:off x="640080" y="3090672"/>
            <a:ext cx="457200" cy="457200"/>
          </a:xfrm>
          <a:prstGeom prst="ellipse">
            <a:avLst/>
          </a:prstGeom>
          <a:solidFill>
            <a:srgbClr val="17A398"/>
          </a:solidFill>
          <a:ln/>
        </p:spPr>
      </p:sp>
      <p:pic>
        <p:nvPicPr>
          <p:cNvPr id="23" name="Image 3" descr="preencoded.png">    </p:cNvPr>
          <p:cNvPicPr>
            <a:picLocks noChangeAspect="1"/>
          </p:cNvPicPr>
          <p:nvPr/>
        </p:nvPicPr>
        <p:blipFill>
          <a:blip r:embed="rId4"/>
          <a:stretch>
            <a:fillRect/>
          </a:stretch>
        </p:blipFill>
        <p:spPr>
          <a:xfrm>
            <a:off x="754380" y="3204972"/>
            <a:ext cx="228600" cy="228600"/>
          </a:xfrm>
          <a:prstGeom prst="rect">
            <a:avLst/>
          </a:prstGeom>
        </p:spPr>
      </p:pic>
      <p:sp>
        <p:nvSpPr>
          <p:cNvPr id="24" name="Text 18"/>
          <p:cNvSpPr txBox="1"/>
          <p:nvPr/>
        </p:nvSpPr>
        <p:spPr>
          <a:xfrm>
            <a:off x="1234440" y="3090672"/>
            <a:ext cx="1737360" cy="457200"/>
          </a:xfrm>
          <a:prstGeom prst="rect">
            <a:avLst/>
          </a:prstGeom>
          <a:noFill/>
          <a:ln/>
        </p:spPr>
        <p:txBody>
          <a:bodyPr wrap="square" lIns="0" tIns="0" rIns="0" bIns="0" rtlCol="0" anchor="ctr"/>
          <a:lstStyle/>
          <a:p>
            <a:pPr indent="0" marL="0">
              <a:buNone/>
            </a:pPr>
            <a:r>
              <a:rPr lang="en-US" sz="1450" b="1" dirty="0">
                <a:solidFill>
                  <a:srgbClr val="0F2A43"/>
                </a:solidFill>
                <a:latin typeface="Calibri" pitchFamily="34" charset="0"/>
                <a:ea typeface="Calibri" pitchFamily="34" charset="-122"/>
                <a:cs typeface="Calibri" pitchFamily="34" charset="-120"/>
              </a:rPr>
              <a:t>Nearest Neighbor</a:t>
            </a:r>
            <a:endParaRPr lang="en-US" sz="1450" dirty="0"/>
          </a:p>
        </p:txBody>
      </p:sp>
      <p:sp>
        <p:nvSpPr>
          <p:cNvPr id="25" name="Text 19"/>
          <p:cNvSpPr txBox="1"/>
          <p:nvPr/>
        </p:nvSpPr>
        <p:spPr>
          <a:xfrm>
            <a:off x="640080" y="3657600"/>
            <a:ext cx="2240280" cy="64008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Picks the closest allowed next stop. A drop-off only after its pickup.</a:t>
            </a:r>
            <a:endParaRPr lang="en-US" sz="1150" dirty="0"/>
          </a:p>
        </p:txBody>
      </p:sp>
      <p:sp>
        <p:nvSpPr>
          <p:cNvPr id="26" name="Shape 20"/>
          <p:cNvSpPr/>
          <p:nvPr/>
        </p:nvSpPr>
        <p:spPr>
          <a:xfrm>
            <a:off x="3268980" y="2926080"/>
            <a:ext cx="2606040" cy="1417320"/>
          </a:xfrm>
          <a:prstGeom prst="roundRect">
            <a:avLst>
              <a:gd name="adj" fmla="val 7742"/>
            </a:avLst>
          </a:prstGeom>
          <a:solidFill>
            <a:srgbClr val="EEF5F7"/>
          </a:solidFill>
          <a:ln w="12700">
            <a:solidFill>
              <a:srgbClr val="EEF5F7"/>
            </a:solidFill>
            <a:prstDash val="solid"/>
          </a:ln>
        </p:spPr>
      </p:sp>
      <p:sp>
        <p:nvSpPr>
          <p:cNvPr id="27" name="Shape 21"/>
          <p:cNvSpPr/>
          <p:nvPr/>
        </p:nvSpPr>
        <p:spPr>
          <a:xfrm>
            <a:off x="3451860" y="3090672"/>
            <a:ext cx="457200" cy="457200"/>
          </a:xfrm>
          <a:prstGeom prst="ellipse">
            <a:avLst/>
          </a:prstGeom>
          <a:solidFill>
            <a:srgbClr val="17A398"/>
          </a:solidFill>
          <a:ln/>
        </p:spPr>
      </p:sp>
      <p:pic>
        <p:nvPicPr>
          <p:cNvPr id="28" name="Image 4" descr="preencoded.png">    </p:cNvPr>
          <p:cNvPicPr>
            <a:picLocks noChangeAspect="1"/>
          </p:cNvPicPr>
          <p:nvPr/>
        </p:nvPicPr>
        <p:blipFill>
          <a:blip r:embed="rId5"/>
          <a:stretch>
            <a:fillRect/>
          </a:stretch>
        </p:blipFill>
        <p:spPr>
          <a:xfrm>
            <a:off x="3566160" y="3204972"/>
            <a:ext cx="228600" cy="228600"/>
          </a:xfrm>
          <a:prstGeom prst="rect">
            <a:avLst/>
          </a:prstGeom>
        </p:spPr>
      </p:pic>
      <p:sp>
        <p:nvSpPr>
          <p:cNvPr id="29" name="Text 22"/>
          <p:cNvSpPr txBox="1"/>
          <p:nvPr/>
        </p:nvSpPr>
        <p:spPr>
          <a:xfrm>
            <a:off x="4046220" y="3090672"/>
            <a:ext cx="1737360" cy="457200"/>
          </a:xfrm>
          <a:prstGeom prst="rect">
            <a:avLst/>
          </a:prstGeom>
          <a:noFill/>
          <a:ln/>
        </p:spPr>
        <p:txBody>
          <a:bodyPr wrap="square" lIns="0" tIns="0" rIns="0" bIns="0" rtlCol="0" anchor="ctr"/>
          <a:lstStyle/>
          <a:p>
            <a:pPr indent="0" marL="0">
              <a:buNone/>
            </a:pPr>
            <a:r>
              <a:rPr lang="en-US" sz="1450" b="1" dirty="0">
                <a:solidFill>
                  <a:srgbClr val="0F2A43"/>
                </a:solidFill>
                <a:latin typeface="Calibri" pitchFamily="34" charset="0"/>
                <a:ea typeface="Calibri" pitchFamily="34" charset="-122"/>
                <a:cs typeface="Calibri" pitchFamily="34" charset="-120"/>
              </a:rPr>
              <a:t>2-opt</a:t>
            </a:r>
            <a:endParaRPr lang="en-US" sz="1450" dirty="0"/>
          </a:p>
        </p:txBody>
      </p:sp>
      <p:sp>
        <p:nvSpPr>
          <p:cNvPr id="30" name="Text 23"/>
          <p:cNvSpPr txBox="1"/>
          <p:nvPr/>
        </p:nvSpPr>
        <p:spPr>
          <a:xfrm>
            <a:off x="3451860" y="3657600"/>
            <a:ext cx="2240280" cy="64008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Reverses parts of the route. A change is kept only if it is valid and cheaper.</a:t>
            </a:r>
            <a:endParaRPr lang="en-US" sz="1150" dirty="0"/>
          </a:p>
        </p:txBody>
      </p:sp>
      <p:sp>
        <p:nvSpPr>
          <p:cNvPr id="31" name="Shape 24"/>
          <p:cNvSpPr/>
          <p:nvPr/>
        </p:nvSpPr>
        <p:spPr>
          <a:xfrm>
            <a:off x="6080760" y="2926080"/>
            <a:ext cx="2606040" cy="1417320"/>
          </a:xfrm>
          <a:prstGeom prst="roundRect">
            <a:avLst>
              <a:gd name="adj" fmla="val 7742"/>
            </a:avLst>
          </a:prstGeom>
          <a:solidFill>
            <a:srgbClr val="EEF5F7"/>
          </a:solidFill>
          <a:ln w="12700">
            <a:solidFill>
              <a:srgbClr val="EEF5F7"/>
            </a:solidFill>
            <a:prstDash val="solid"/>
          </a:ln>
        </p:spPr>
      </p:sp>
      <p:sp>
        <p:nvSpPr>
          <p:cNvPr id="32" name="Shape 25"/>
          <p:cNvSpPr/>
          <p:nvPr/>
        </p:nvSpPr>
        <p:spPr>
          <a:xfrm>
            <a:off x="6263640" y="3090672"/>
            <a:ext cx="457200" cy="457200"/>
          </a:xfrm>
          <a:prstGeom prst="ellipse">
            <a:avLst/>
          </a:prstGeom>
          <a:solidFill>
            <a:srgbClr val="17A398"/>
          </a:solidFill>
          <a:ln/>
        </p:spPr>
      </p:sp>
      <p:pic>
        <p:nvPicPr>
          <p:cNvPr id="33" name="Image 5" descr="preencoded.png">    </p:cNvPr>
          <p:cNvPicPr>
            <a:picLocks noChangeAspect="1"/>
          </p:cNvPicPr>
          <p:nvPr/>
        </p:nvPicPr>
        <p:blipFill>
          <a:blip r:embed="rId6"/>
          <a:stretch>
            <a:fillRect/>
          </a:stretch>
        </p:blipFill>
        <p:spPr>
          <a:xfrm>
            <a:off x="6377940" y="3204972"/>
            <a:ext cx="228600" cy="228600"/>
          </a:xfrm>
          <a:prstGeom prst="rect">
            <a:avLst/>
          </a:prstGeom>
        </p:spPr>
      </p:pic>
      <p:sp>
        <p:nvSpPr>
          <p:cNvPr id="34" name="Text 26"/>
          <p:cNvSpPr txBox="1"/>
          <p:nvPr/>
        </p:nvSpPr>
        <p:spPr>
          <a:xfrm>
            <a:off x="6858000" y="3090672"/>
            <a:ext cx="1737360" cy="457200"/>
          </a:xfrm>
          <a:prstGeom prst="rect">
            <a:avLst/>
          </a:prstGeom>
          <a:noFill/>
          <a:ln/>
        </p:spPr>
        <p:txBody>
          <a:bodyPr wrap="square" lIns="0" tIns="0" rIns="0" bIns="0" rtlCol="0" anchor="ctr"/>
          <a:lstStyle/>
          <a:p>
            <a:pPr indent="0" marL="0">
              <a:buNone/>
            </a:pPr>
            <a:r>
              <a:rPr lang="en-US" sz="1450" b="1" dirty="0">
                <a:solidFill>
                  <a:srgbClr val="0F2A43"/>
                </a:solidFill>
                <a:latin typeface="Calibri" pitchFamily="34" charset="0"/>
                <a:ea typeface="Calibri" pitchFamily="34" charset="-122"/>
                <a:cs typeface="Calibri" pitchFamily="34" charset="-120"/>
              </a:rPr>
              <a:t>Brute-force order</a:t>
            </a:r>
            <a:endParaRPr lang="en-US" sz="1450" dirty="0"/>
          </a:p>
        </p:txBody>
      </p:sp>
      <p:sp>
        <p:nvSpPr>
          <p:cNvPr id="35" name="Text 27"/>
          <p:cNvSpPr txBox="1"/>
          <p:nvPr/>
        </p:nvSpPr>
        <p:spPr>
          <a:xfrm>
            <a:off x="6263640" y="3657600"/>
            <a:ext cx="2240280" cy="64008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Tries every valid order on small missions to measure how close the heuristics get.</a:t>
            </a:r>
            <a:endParaRPr lang="en-US" sz="1150" dirty="0"/>
          </a:p>
        </p:txBody>
      </p:sp>
      <p:sp>
        <p:nvSpPr>
          <p:cNvPr id="36" name="Shape 28"/>
          <p:cNvSpPr/>
          <p:nvPr/>
        </p:nvSpPr>
        <p:spPr>
          <a:xfrm>
            <a:off x="457200" y="4480560"/>
            <a:ext cx="8229600" cy="365760"/>
          </a:xfrm>
          <a:prstGeom prst="roundRect">
            <a:avLst>
              <a:gd name="adj" fmla="val 50000"/>
            </a:avLst>
          </a:prstGeom>
          <a:solidFill>
            <a:srgbClr val="0F2A43"/>
          </a:solidFill>
          <a:ln/>
        </p:spPr>
      </p:sp>
      <p:sp>
        <p:nvSpPr>
          <p:cNvPr id="37" name="Text 29"/>
          <p:cNvSpPr txBox="1"/>
          <p:nvPr/>
        </p:nvSpPr>
        <p:spPr>
          <a:xfrm>
            <a:off x="457200" y="4480560"/>
            <a:ext cx="82296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 machine learning, deep learning or reinforcement learning anywhere in the project.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System Workflow</a:t>
            </a:r>
            <a:endParaRPr lang="en-US" sz="3000" dirty="0"/>
          </a:p>
        </p:txBody>
      </p:sp>
      <p:sp>
        <p:nvSpPr>
          <p:cNvPr id="3" name="Shape 1"/>
          <p:cNvSpPr/>
          <p:nvPr/>
        </p:nvSpPr>
        <p:spPr>
          <a:xfrm>
            <a:off x="457200" y="886968"/>
            <a:ext cx="640080" cy="274320"/>
          </a:xfrm>
          <a:prstGeom prst="roundRect">
            <a:avLst>
              <a:gd name="adj" fmla="val 50000"/>
            </a:avLst>
          </a:prstGeom>
          <a:solidFill>
            <a:srgbClr val="17A398"/>
          </a:solidFill>
          <a:ln/>
        </p:spPr>
      </p:sp>
      <p:sp>
        <p:nvSpPr>
          <p:cNvPr id="4" name="Text 2"/>
          <p:cNvSpPr txBox="1"/>
          <p:nvPr/>
        </p:nvSpPr>
        <p:spPr>
          <a:xfrm>
            <a:off x="457200" y="886968"/>
            <a:ext cx="6400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Flow</a:t>
            </a:r>
            <a:endParaRPr lang="en-US" sz="1100" dirty="0"/>
          </a:p>
        </p:txBody>
      </p:sp>
      <p:sp>
        <p:nvSpPr>
          <p:cNvPr id="5" name="Text 3"/>
          <p:cNvSpPr txBox="1"/>
          <p:nvPr/>
        </p:nvSpPr>
        <p:spPr>
          <a:xfrm>
            <a:off x="1234440" y="886968"/>
            <a:ext cx="713232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Perceive, reason, decide, act</a:t>
            </a:r>
            <a:endParaRPr lang="en-US" sz="1400" dirty="0"/>
          </a:p>
        </p:txBody>
      </p:sp>
      <p:sp>
        <p:nvSpPr>
          <p:cNvPr id="6" name="Text 4"/>
          <p:cNvSpPr txBox="1"/>
          <p:nvPr/>
        </p:nvSpPr>
        <p:spPr>
          <a:xfrm>
            <a:off x="457200" y="1280160"/>
            <a:ext cx="2743200" cy="228600"/>
          </a:xfrm>
          <a:prstGeom prst="rect">
            <a:avLst/>
          </a:prstGeom>
          <a:noFill/>
          <a:ln/>
        </p:spPr>
        <p:txBody>
          <a:bodyPr wrap="square" lIns="0" tIns="0" rIns="0" bIns="0" rtlCol="0" anchor="ctr"/>
          <a:lstStyle/>
          <a:p>
            <a:pPr indent="0" marL="0">
              <a:buNone/>
            </a:pPr>
            <a:r>
              <a:rPr lang="en-US" sz="1100" b="1" dirty="0">
                <a:solidFill>
                  <a:srgbClr val="17A398"/>
                </a:solidFill>
                <a:latin typeface="Calibri" pitchFamily="34" charset="0"/>
                <a:ea typeface="Calibri" pitchFamily="34" charset="-122"/>
                <a:cs typeface="Calibri" pitchFamily="34" charset="-120"/>
              </a:rPr>
              <a:t>PLAN THE ORDER</a:t>
            </a:r>
            <a:endParaRPr lang="en-US" sz="1100" dirty="0"/>
          </a:p>
        </p:txBody>
      </p:sp>
      <p:sp>
        <p:nvSpPr>
          <p:cNvPr id="7" name="Text 5"/>
          <p:cNvSpPr txBox="1"/>
          <p:nvPr/>
        </p:nvSpPr>
        <p:spPr>
          <a:xfrm>
            <a:off x="457200" y="2697480"/>
            <a:ext cx="2743200" cy="228600"/>
          </a:xfrm>
          <a:prstGeom prst="rect">
            <a:avLst/>
          </a:prstGeom>
          <a:noFill/>
          <a:ln/>
        </p:spPr>
        <p:txBody>
          <a:bodyPr wrap="square" lIns="0" tIns="0" rIns="0" bIns="0" rtlCol="0" anchor="ctr"/>
          <a:lstStyle/>
          <a:p>
            <a:pPr indent="0" marL="0">
              <a:buNone/>
            </a:pPr>
            <a:r>
              <a:rPr lang="en-US" sz="1100" b="1" dirty="0">
                <a:solidFill>
                  <a:srgbClr val="17A398"/>
                </a:solidFill>
                <a:latin typeface="Calibri" pitchFamily="34" charset="0"/>
                <a:ea typeface="Calibri" pitchFamily="34" charset="-122"/>
                <a:cs typeface="Calibri" pitchFamily="34" charset="-120"/>
              </a:rPr>
              <a:t>EXECUTE EACH STOP</a:t>
            </a:r>
            <a:endParaRPr lang="en-US" sz="1100" dirty="0"/>
          </a:p>
        </p:txBody>
      </p:sp>
      <p:sp>
        <p:nvSpPr>
          <p:cNvPr id="8" name="Shape 6"/>
          <p:cNvSpPr/>
          <p:nvPr/>
        </p:nvSpPr>
        <p:spPr>
          <a:xfrm>
            <a:off x="457200" y="1600200"/>
            <a:ext cx="1783080" cy="868680"/>
          </a:xfrm>
          <a:prstGeom prst="roundRect">
            <a:avLst>
              <a:gd name="adj" fmla="val 12632"/>
            </a:avLst>
          </a:prstGeom>
          <a:solidFill>
            <a:srgbClr val="DDEFEC"/>
          </a:solidFill>
          <a:ln/>
        </p:spPr>
      </p:sp>
      <p:sp>
        <p:nvSpPr>
          <p:cNvPr id="9" name="Text 7"/>
          <p:cNvSpPr txBox="1"/>
          <p:nvPr/>
        </p:nvSpPr>
        <p:spPr>
          <a:xfrm>
            <a:off x="548640" y="1600200"/>
            <a:ext cx="1600200" cy="868680"/>
          </a:xfrm>
          <a:prstGeom prst="rect">
            <a:avLst/>
          </a:prstGeom>
          <a:noFill/>
          <a:ln/>
        </p:spPr>
        <p:txBody>
          <a:bodyPr wrap="square" lIns="0" tIns="0" rIns="0" bIns="0" rtlCol="0" anchor="ctr"/>
          <a:lstStyle/>
          <a:p>
            <a:pPr algn="ctr" indent="0" marL="0">
              <a:buNone/>
            </a:pPr>
            <a:r>
              <a:rPr lang="en-US" sz="1300" b="1" dirty="0">
                <a:solidFill>
                  <a:srgbClr val="0F2A43"/>
                </a:solidFill>
                <a:latin typeface="Calibri" pitchFamily="34" charset="0"/>
                <a:ea typeface="Calibri" pitchFamily="34" charset="-122"/>
                <a:cs typeface="Calibri" pitchFamily="34" charset="-120"/>
              </a:rPr>
              <a:t>Delivery requests</a:t>
            </a:r>
            <a:endParaRPr lang="en-US" sz="1300" dirty="0"/>
          </a:p>
          <a:p>
            <a:pPr algn="ctr" indent="0" marL="0">
              <a:buNone/>
            </a:pPr>
            <a:r>
              <a:rPr lang="en-US" sz="1050" dirty="0">
                <a:solidFill>
                  <a:srgbClr val="5B6B7A"/>
                </a:solidFill>
                <a:latin typeface="Calibri" pitchFamily="34" charset="0"/>
                <a:ea typeface="Calibri" pitchFamily="34" charset="-122"/>
                <a:cs typeface="Calibri" pitchFamily="34" charset="-120"/>
              </a:rPr>
              <a:t>pickup and drop-off for each package</a:t>
            </a:r>
            <a:endParaRPr lang="en-US" sz="1300" dirty="0"/>
          </a:p>
        </p:txBody>
      </p:sp>
      <p:sp>
        <p:nvSpPr>
          <p:cNvPr id="10" name="Shape 8"/>
          <p:cNvSpPr/>
          <p:nvPr/>
        </p:nvSpPr>
        <p:spPr>
          <a:xfrm>
            <a:off x="365760" y="1490472"/>
            <a:ext cx="292608" cy="292608"/>
          </a:xfrm>
          <a:prstGeom prst="ellipse">
            <a:avLst/>
          </a:prstGeom>
          <a:solidFill>
            <a:srgbClr val="F4A259"/>
          </a:solidFill>
          <a:ln/>
        </p:spPr>
      </p:sp>
      <p:sp>
        <p:nvSpPr>
          <p:cNvPr id="11" name="Text 9"/>
          <p:cNvSpPr txBox="1"/>
          <p:nvPr/>
        </p:nvSpPr>
        <p:spPr>
          <a:xfrm>
            <a:off x="365760" y="149047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1</a:t>
            </a:r>
            <a:endParaRPr lang="en-US" sz="1100" dirty="0"/>
          </a:p>
        </p:txBody>
      </p:sp>
      <p:sp>
        <p:nvSpPr>
          <p:cNvPr id="12" name="Shape 10"/>
          <p:cNvSpPr/>
          <p:nvPr/>
        </p:nvSpPr>
        <p:spPr>
          <a:xfrm>
            <a:off x="2606040" y="1600200"/>
            <a:ext cx="1783080" cy="868680"/>
          </a:xfrm>
          <a:prstGeom prst="roundRect">
            <a:avLst>
              <a:gd name="adj" fmla="val 12632"/>
            </a:avLst>
          </a:prstGeom>
          <a:solidFill>
            <a:srgbClr val="DDEFEC"/>
          </a:solidFill>
          <a:ln/>
        </p:spPr>
      </p:sp>
      <p:sp>
        <p:nvSpPr>
          <p:cNvPr id="13" name="Text 11"/>
          <p:cNvSpPr txBox="1"/>
          <p:nvPr/>
        </p:nvSpPr>
        <p:spPr>
          <a:xfrm>
            <a:off x="2697480" y="1600200"/>
            <a:ext cx="1600200" cy="868680"/>
          </a:xfrm>
          <a:prstGeom prst="rect">
            <a:avLst/>
          </a:prstGeom>
          <a:noFill/>
          <a:ln/>
        </p:spPr>
        <p:txBody>
          <a:bodyPr wrap="square" lIns="0" tIns="0" rIns="0" bIns="0" rtlCol="0" anchor="ctr"/>
          <a:lstStyle/>
          <a:p>
            <a:pPr algn="ctr" indent="0" marL="0">
              <a:buNone/>
            </a:pPr>
            <a:r>
              <a:rPr lang="en-US" sz="1300" b="1" dirty="0">
                <a:solidFill>
                  <a:srgbClr val="0F2A43"/>
                </a:solidFill>
                <a:latin typeface="Calibri" pitchFamily="34" charset="0"/>
                <a:ea typeface="Calibri" pitchFamily="34" charset="-122"/>
                <a:cs typeface="Calibri" pitchFamily="34" charset="-120"/>
              </a:rPr>
              <a:t>Nearest Neighbor</a:t>
            </a:r>
            <a:endParaRPr lang="en-US" sz="1300" dirty="0"/>
          </a:p>
          <a:p>
            <a:pPr algn="ctr" indent="0" marL="0">
              <a:buNone/>
            </a:pPr>
            <a:r>
              <a:rPr lang="en-US" sz="1050" dirty="0">
                <a:solidFill>
                  <a:srgbClr val="5B6B7A"/>
                </a:solidFill>
                <a:latin typeface="Calibri" pitchFamily="34" charset="0"/>
                <a:ea typeface="Calibri" pitchFamily="34" charset="-122"/>
                <a:cs typeface="Calibri" pitchFamily="34" charset="-120"/>
              </a:rPr>
              <a:t>closest allowed stop next</a:t>
            </a:r>
            <a:endParaRPr lang="en-US" sz="1300" dirty="0"/>
          </a:p>
        </p:txBody>
      </p:sp>
      <p:sp>
        <p:nvSpPr>
          <p:cNvPr id="14" name="Shape 12"/>
          <p:cNvSpPr/>
          <p:nvPr/>
        </p:nvSpPr>
        <p:spPr>
          <a:xfrm>
            <a:off x="2514600" y="1490472"/>
            <a:ext cx="292608" cy="292608"/>
          </a:xfrm>
          <a:prstGeom prst="ellipse">
            <a:avLst/>
          </a:prstGeom>
          <a:solidFill>
            <a:srgbClr val="F4A259"/>
          </a:solidFill>
          <a:ln/>
        </p:spPr>
      </p:sp>
      <p:sp>
        <p:nvSpPr>
          <p:cNvPr id="15" name="Text 13"/>
          <p:cNvSpPr txBox="1"/>
          <p:nvPr/>
        </p:nvSpPr>
        <p:spPr>
          <a:xfrm>
            <a:off x="2514600" y="149047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2</a:t>
            </a:r>
            <a:endParaRPr lang="en-US" sz="1100" dirty="0"/>
          </a:p>
        </p:txBody>
      </p:sp>
      <p:sp>
        <p:nvSpPr>
          <p:cNvPr id="16" name="Shape 14"/>
          <p:cNvSpPr/>
          <p:nvPr/>
        </p:nvSpPr>
        <p:spPr>
          <a:xfrm>
            <a:off x="4754880" y="1600200"/>
            <a:ext cx="1783080" cy="868680"/>
          </a:xfrm>
          <a:prstGeom prst="roundRect">
            <a:avLst>
              <a:gd name="adj" fmla="val 12632"/>
            </a:avLst>
          </a:prstGeom>
          <a:solidFill>
            <a:srgbClr val="DDEFEC"/>
          </a:solidFill>
          <a:ln/>
        </p:spPr>
      </p:sp>
      <p:sp>
        <p:nvSpPr>
          <p:cNvPr id="17" name="Text 15"/>
          <p:cNvSpPr txBox="1"/>
          <p:nvPr/>
        </p:nvSpPr>
        <p:spPr>
          <a:xfrm>
            <a:off x="4846320" y="1600200"/>
            <a:ext cx="1600200" cy="868680"/>
          </a:xfrm>
          <a:prstGeom prst="rect">
            <a:avLst/>
          </a:prstGeom>
          <a:noFill/>
          <a:ln/>
        </p:spPr>
        <p:txBody>
          <a:bodyPr wrap="square" lIns="0" tIns="0" rIns="0" bIns="0" rtlCol="0" anchor="ctr"/>
          <a:lstStyle/>
          <a:p>
            <a:pPr algn="ctr" indent="0" marL="0">
              <a:buNone/>
            </a:pPr>
            <a:r>
              <a:rPr lang="en-US" sz="1300" b="1" dirty="0">
                <a:solidFill>
                  <a:srgbClr val="0F2A43"/>
                </a:solidFill>
                <a:latin typeface="Calibri" pitchFamily="34" charset="0"/>
                <a:ea typeface="Calibri" pitchFamily="34" charset="-122"/>
                <a:cs typeface="Calibri" pitchFamily="34" charset="-120"/>
              </a:rPr>
              <a:t>2-opt improvement</a:t>
            </a:r>
            <a:endParaRPr lang="en-US" sz="1300" dirty="0"/>
          </a:p>
          <a:p>
            <a:pPr algn="ctr" indent="0" marL="0">
              <a:buNone/>
            </a:pPr>
            <a:r>
              <a:rPr lang="en-US" sz="1050" dirty="0">
                <a:solidFill>
                  <a:srgbClr val="5B6B7A"/>
                </a:solidFill>
                <a:latin typeface="Calibri" pitchFamily="34" charset="0"/>
                <a:ea typeface="Calibri" pitchFamily="34" charset="-122"/>
                <a:cs typeface="Calibri" pitchFamily="34" charset="-120"/>
              </a:rPr>
              <a:t>keep only valid, cheaper swaps</a:t>
            </a:r>
            <a:endParaRPr lang="en-US" sz="1300" dirty="0"/>
          </a:p>
        </p:txBody>
      </p:sp>
      <p:sp>
        <p:nvSpPr>
          <p:cNvPr id="18" name="Shape 16"/>
          <p:cNvSpPr/>
          <p:nvPr/>
        </p:nvSpPr>
        <p:spPr>
          <a:xfrm>
            <a:off x="4663440" y="1490472"/>
            <a:ext cx="292608" cy="292608"/>
          </a:xfrm>
          <a:prstGeom prst="ellipse">
            <a:avLst/>
          </a:prstGeom>
          <a:solidFill>
            <a:srgbClr val="F4A259"/>
          </a:solidFill>
          <a:ln/>
        </p:spPr>
      </p:sp>
      <p:sp>
        <p:nvSpPr>
          <p:cNvPr id="19" name="Text 17"/>
          <p:cNvSpPr txBox="1"/>
          <p:nvPr/>
        </p:nvSpPr>
        <p:spPr>
          <a:xfrm>
            <a:off x="4663440" y="149047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3</a:t>
            </a:r>
            <a:endParaRPr lang="en-US" sz="1100" dirty="0"/>
          </a:p>
        </p:txBody>
      </p:sp>
      <p:sp>
        <p:nvSpPr>
          <p:cNvPr id="20" name="Shape 18"/>
          <p:cNvSpPr/>
          <p:nvPr/>
        </p:nvSpPr>
        <p:spPr>
          <a:xfrm>
            <a:off x="6903720" y="1600200"/>
            <a:ext cx="1783080" cy="868680"/>
          </a:xfrm>
          <a:prstGeom prst="roundRect">
            <a:avLst>
              <a:gd name="adj" fmla="val 12632"/>
            </a:avLst>
          </a:prstGeom>
          <a:solidFill>
            <a:srgbClr val="DDEFEC"/>
          </a:solidFill>
          <a:ln/>
        </p:spPr>
      </p:sp>
      <p:sp>
        <p:nvSpPr>
          <p:cNvPr id="21" name="Text 19"/>
          <p:cNvSpPr txBox="1"/>
          <p:nvPr/>
        </p:nvSpPr>
        <p:spPr>
          <a:xfrm>
            <a:off x="6995160" y="1600200"/>
            <a:ext cx="1600200" cy="868680"/>
          </a:xfrm>
          <a:prstGeom prst="rect">
            <a:avLst/>
          </a:prstGeom>
          <a:noFill/>
          <a:ln/>
        </p:spPr>
        <p:txBody>
          <a:bodyPr wrap="square" lIns="0" tIns="0" rIns="0" bIns="0" rtlCol="0" anchor="ctr"/>
          <a:lstStyle/>
          <a:p>
            <a:pPr algn="ctr" indent="0" marL="0">
              <a:buNone/>
            </a:pPr>
            <a:r>
              <a:rPr lang="en-US" sz="1300" b="1" dirty="0">
                <a:solidFill>
                  <a:srgbClr val="0F2A43"/>
                </a:solidFill>
                <a:latin typeface="Calibri" pitchFamily="34" charset="0"/>
                <a:ea typeface="Calibri" pitchFamily="34" charset="-122"/>
                <a:cs typeface="Calibri" pitchFamily="34" charset="-120"/>
              </a:rPr>
              <a:t>Ordered stops</a:t>
            </a:r>
            <a:endParaRPr lang="en-US" sz="1300" dirty="0"/>
          </a:p>
          <a:p>
            <a:pPr algn="ctr" indent="0" marL="0">
              <a:buNone/>
            </a:pPr>
            <a:r>
              <a:rPr lang="en-US" sz="1050" dirty="0">
                <a:solidFill>
                  <a:srgbClr val="5B6B7A"/>
                </a:solidFill>
                <a:latin typeface="Calibri" pitchFamily="34" charset="0"/>
                <a:ea typeface="Calibri" pitchFamily="34" charset="-122"/>
                <a:cs typeface="Calibri" pitchFamily="34" charset="-120"/>
              </a:rPr>
              <a:t>pickup always before drop-off</a:t>
            </a:r>
            <a:endParaRPr lang="en-US" sz="1300" dirty="0"/>
          </a:p>
        </p:txBody>
      </p:sp>
      <p:sp>
        <p:nvSpPr>
          <p:cNvPr id="22" name="Shape 20"/>
          <p:cNvSpPr/>
          <p:nvPr/>
        </p:nvSpPr>
        <p:spPr>
          <a:xfrm>
            <a:off x="6812280" y="1490472"/>
            <a:ext cx="292608" cy="292608"/>
          </a:xfrm>
          <a:prstGeom prst="ellipse">
            <a:avLst/>
          </a:prstGeom>
          <a:solidFill>
            <a:srgbClr val="F4A259"/>
          </a:solidFill>
          <a:ln/>
        </p:spPr>
      </p:sp>
      <p:sp>
        <p:nvSpPr>
          <p:cNvPr id="23" name="Text 21"/>
          <p:cNvSpPr txBox="1"/>
          <p:nvPr/>
        </p:nvSpPr>
        <p:spPr>
          <a:xfrm>
            <a:off x="6812280" y="149047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4</a:t>
            </a:r>
            <a:endParaRPr lang="en-US" sz="1100" dirty="0"/>
          </a:p>
        </p:txBody>
      </p:sp>
      <p:sp>
        <p:nvSpPr>
          <p:cNvPr id="24" name="Shape 22"/>
          <p:cNvSpPr/>
          <p:nvPr/>
        </p:nvSpPr>
        <p:spPr>
          <a:xfrm>
            <a:off x="6903720" y="3017520"/>
            <a:ext cx="1783080" cy="868680"/>
          </a:xfrm>
          <a:prstGeom prst="roundRect">
            <a:avLst>
              <a:gd name="adj" fmla="val 12632"/>
            </a:avLst>
          </a:prstGeom>
          <a:solidFill>
            <a:srgbClr val="0F2A43"/>
          </a:solidFill>
          <a:ln/>
        </p:spPr>
      </p:sp>
      <p:sp>
        <p:nvSpPr>
          <p:cNvPr id="25" name="Text 23"/>
          <p:cNvSpPr txBox="1"/>
          <p:nvPr/>
        </p:nvSpPr>
        <p:spPr>
          <a:xfrm>
            <a:off x="6995160" y="3017520"/>
            <a:ext cx="160020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Battery check</a:t>
            </a:r>
            <a:endParaRPr lang="en-US" sz="1300" dirty="0"/>
          </a:p>
          <a:p>
            <a:pPr algn="ctr" indent="0" marL="0">
              <a:buNone/>
            </a:pPr>
            <a:r>
              <a:rPr lang="en-US" sz="1050" dirty="0">
                <a:solidFill>
                  <a:srgbClr val="BFD4E4"/>
                </a:solidFill>
                <a:latin typeface="Calibri" pitchFamily="34" charset="0"/>
                <a:ea typeface="Calibri" pitchFamily="34" charset="-122"/>
                <a:cs typeface="Calibri" pitchFamily="34" charset="-120"/>
              </a:rPr>
              <a:t>leg plus way home must fit</a:t>
            </a:r>
            <a:endParaRPr lang="en-US" sz="1300" dirty="0"/>
          </a:p>
        </p:txBody>
      </p:sp>
      <p:sp>
        <p:nvSpPr>
          <p:cNvPr id="26" name="Shape 24"/>
          <p:cNvSpPr/>
          <p:nvPr/>
        </p:nvSpPr>
        <p:spPr>
          <a:xfrm>
            <a:off x="6812280" y="2907792"/>
            <a:ext cx="292608" cy="292608"/>
          </a:xfrm>
          <a:prstGeom prst="ellipse">
            <a:avLst/>
          </a:prstGeom>
          <a:solidFill>
            <a:srgbClr val="F4A259"/>
          </a:solidFill>
          <a:ln/>
        </p:spPr>
      </p:sp>
      <p:sp>
        <p:nvSpPr>
          <p:cNvPr id="27" name="Text 25"/>
          <p:cNvSpPr txBox="1"/>
          <p:nvPr/>
        </p:nvSpPr>
        <p:spPr>
          <a:xfrm>
            <a:off x="6812280" y="290779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5</a:t>
            </a:r>
            <a:endParaRPr lang="en-US" sz="1100" dirty="0"/>
          </a:p>
        </p:txBody>
      </p:sp>
      <p:sp>
        <p:nvSpPr>
          <p:cNvPr id="28" name="Shape 26"/>
          <p:cNvSpPr/>
          <p:nvPr/>
        </p:nvSpPr>
        <p:spPr>
          <a:xfrm>
            <a:off x="4754880" y="3017520"/>
            <a:ext cx="1783080" cy="868680"/>
          </a:xfrm>
          <a:prstGeom prst="roundRect">
            <a:avLst>
              <a:gd name="adj" fmla="val 12632"/>
            </a:avLst>
          </a:prstGeom>
          <a:solidFill>
            <a:srgbClr val="0F2A43"/>
          </a:solidFill>
          <a:ln/>
        </p:spPr>
      </p:sp>
      <p:sp>
        <p:nvSpPr>
          <p:cNvPr id="29" name="Text 27"/>
          <p:cNvSpPr txBox="1"/>
          <p:nvPr/>
        </p:nvSpPr>
        <p:spPr>
          <a:xfrm>
            <a:off x="4846320" y="3017520"/>
            <a:ext cx="160020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 path planning</a:t>
            </a:r>
            <a:endParaRPr lang="en-US" sz="1300" dirty="0"/>
          </a:p>
          <a:p>
            <a:pPr algn="ctr" indent="0" marL="0">
              <a:buNone/>
            </a:pPr>
            <a:r>
              <a:rPr lang="en-US" sz="1050" dirty="0">
                <a:solidFill>
                  <a:srgbClr val="BFD4E4"/>
                </a:solidFill>
                <a:latin typeface="Calibri" pitchFamily="34" charset="0"/>
                <a:ea typeface="Calibri" pitchFamily="34" charset="-122"/>
                <a:cs typeface="Calibri" pitchFamily="34" charset="-120"/>
              </a:rPr>
              <a:t>wind-aware cheapest path</a:t>
            </a:r>
            <a:endParaRPr lang="en-US" sz="1300" dirty="0"/>
          </a:p>
        </p:txBody>
      </p:sp>
      <p:sp>
        <p:nvSpPr>
          <p:cNvPr id="30" name="Shape 28"/>
          <p:cNvSpPr/>
          <p:nvPr/>
        </p:nvSpPr>
        <p:spPr>
          <a:xfrm>
            <a:off x="4663440" y="2907792"/>
            <a:ext cx="292608" cy="292608"/>
          </a:xfrm>
          <a:prstGeom prst="ellipse">
            <a:avLst/>
          </a:prstGeom>
          <a:solidFill>
            <a:srgbClr val="F4A259"/>
          </a:solidFill>
          <a:ln/>
        </p:spPr>
      </p:sp>
      <p:sp>
        <p:nvSpPr>
          <p:cNvPr id="31" name="Text 29"/>
          <p:cNvSpPr txBox="1"/>
          <p:nvPr/>
        </p:nvSpPr>
        <p:spPr>
          <a:xfrm>
            <a:off x="4663440" y="290779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6</a:t>
            </a:r>
            <a:endParaRPr lang="en-US" sz="1100" dirty="0"/>
          </a:p>
        </p:txBody>
      </p:sp>
      <p:sp>
        <p:nvSpPr>
          <p:cNvPr id="32" name="Shape 30"/>
          <p:cNvSpPr/>
          <p:nvPr/>
        </p:nvSpPr>
        <p:spPr>
          <a:xfrm>
            <a:off x="2606040" y="3017520"/>
            <a:ext cx="1783080" cy="868680"/>
          </a:xfrm>
          <a:prstGeom prst="roundRect">
            <a:avLst>
              <a:gd name="adj" fmla="val 12632"/>
            </a:avLst>
          </a:prstGeom>
          <a:solidFill>
            <a:srgbClr val="0F2A43"/>
          </a:solidFill>
          <a:ln/>
        </p:spPr>
      </p:sp>
      <p:sp>
        <p:nvSpPr>
          <p:cNvPr id="33" name="Text 31"/>
          <p:cNvSpPr txBox="1"/>
          <p:nvPr/>
        </p:nvSpPr>
        <p:spPr>
          <a:xfrm>
            <a:off x="2697480" y="3017520"/>
            <a:ext cx="160020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Fly, pick up, drop off</a:t>
            </a:r>
            <a:endParaRPr lang="en-US" sz="1300" dirty="0"/>
          </a:p>
          <a:p>
            <a:pPr algn="ctr" indent="0" marL="0">
              <a:buNone/>
            </a:pPr>
            <a:r>
              <a:rPr lang="en-US" sz="1050" dirty="0">
                <a:solidFill>
                  <a:srgbClr val="BFD4E4"/>
                </a:solidFill>
                <a:latin typeface="Calibri" pitchFamily="34" charset="0"/>
                <a:ea typeface="Calibri" pitchFamily="34" charset="-122"/>
                <a:cs typeface="Calibri" pitchFamily="34" charset="-120"/>
              </a:rPr>
              <a:t>battery drops by move cost</a:t>
            </a:r>
            <a:endParaRPr lang="en-US" sz="1300" dirty="0"/>
          </a:p>
        </p:txBody>
      </p:sp>
      <p:sp>
        <p:nvSpPr>
          <p:cNvPr id="34" name="Shape 32"/>
          <p:cNvSpPr/>
          <p:nvPr/>
        </p:nvSpPr>
        <p:spPr>
          <a:xfrm>
            <a:off x="2514600" y="2907792"/>
            <a:ext cx="292608" cy="292608"/>
          </a:xfrm>
          <a:prstGeom prst="ellipse">
            <a:avLst/>
          </a:prstGeom>
          <a:solidFill>
            <a:srgbClr val="F4A259"/>
          </a:solidFill>
          <a:ln/>
        </p:spPr>
      </p:sp>
      <p:sp>
        <p:nvSpPr>
          <p:cNvPr id="35" name="Text 33"/>
          <p:cNvSpPr txBox="1"/>
          <p:nvPr/>
        </p:nvSpPr>
        <p:spPr>
          <a:xfrm>
            <a:off x="2514600" y="290779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7</a:t>
            </a:r>
            <a:endParaRPr lang="en-US" sz="1100" dirty="0"/>
          </a:p>
        </p:txBody>
      </p:sp>
      <p:sp>
        <p:nvSpPr>
          <p:cNvPr id="36" name="Shape 34"/>
          <p:cNvSpPr/>
          <p:nvPr/>
        </p:nvSpPr>
        <p:spPr>
          <a:xfrm>
            <a:off x="457200" y="3017520"/>
            <a:ext cx="1783080" cy="868680"/>
          </a:xfrm>
          <a:prstGeom prst="roundRect">
            <a:avLst>
              <a:gd name="adj" fmla="val 12632"/>
            </a:avLst>
          </a:prstGeom>
          <a:solidFill>
            <a:srgbClr val="0F2A43"/>
          </a:solidFill>
          <a:ln/>
        </p:spPr>
      </p:sp>
      <p:sp>
        <p:nvSpPr>
          <p:cNvPr id="37" name="Text 35"/>
          <p:cNvSpPr txBox="1"/>
          <p:nvPr/>
        </p:nvSpPr>
        <p:spPr>
          <a:xfrm>
            <a:off x="548640" y="3017520"/>
            <a:ext cx="1600200"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Return to depot</a:t>
            </a:r>
            <a:endParaRPr lang="en-US" sz="1300" dirty="0"/>
          </a:p>
          <a:p>
            <a:pPr algn="ctr" indent="0" marL="0">
              <a:buNone/>
            </a:pPr>
            <a:r>
              <a:rPr lang="en-US" sz="1050" dirty="0">
                <a:solidFill>
                  <a:srgbClr val="BFD4E4"/>
                </a:solidFill>
                <a:latin typeface="Calibri" pitchFamily="34" charset="0"/>
                <a:ea typeface="Calibri" pitchFamily="34" charset="-122"/>
                <a:cs typeface="Calibri" pitchFamily="34" charset="-120"/>
              </a:rPr>
              <a:t>log and final results</a:t>
            </a:r>
            <a:endParaRPr lang="en-US" sz="1300" dirty="0"/>
          </a:p>
        </p:txBody>
      </p:sp>
      <p:sp>
        <p:nvSpPr>
          <p:cNvPr id="38" name="Shape 36"/>
          <p:cNvSpPr/>
          <p:nvPr/>
        </p:nvSpPr>
        <p:spPr>
          <a:xfrm>
            <a:off x="365760" y="2907792"/>
            <a:ext cx="292608" cy="292608"/>
          </a:xfrm>
          <a:prstGeom prst="ellipse">
            <a:avLst/>
          </a:prstGeom>
          <a:solidFill>
            <a:srgbClr val="F4A259"/>
          </a:solidFill>
          <a:ln/>
        </p:spPr>
      </p:sp>
      <p:sp>
        <p:nvSpPr>
          <p:cNvPr id="39" name="Text 37"/>
          <p:cNvSpPr txBox="1"/>
          <p:nvPr/>
        </p:nvSpPr>
        <p:spPr>
          <a:xfrm>
            <a:off x="365760" y="2907792"/>
            <a:ext cx="292608" cy="292608"/>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8</a:t>
            </a:r>
            <a:endParaRPr lang="en-US" sz="1100" dirty="0"/>
          </a:p>
        </p:txBody>
      </p:sp>
      <p:sp>
        <p:nvSpPr>
          <p:cNvPr id="40" name="Shape 38"/>
          <p:cNvSpPr/>
          <p:nvPr/>
        </p:nvSpPr>
        <p:spPr>
          <a:xfrm>
            <a:off x="2267712" y="2034540"/>
            <a:ext cx="310896" cy="0"/>
          </a:xfrm>
          <a:prstGeom prst="line">
            <a:avLst/>
          </a:prstGeom>
          <a:noFill/>
          <a:ln w="25400">
            <a:solidFill>
              <a:srgbClr val="5B6B7A"/>
            </a:solidFill>
            <a:prstDash val="solid"/>
            <a:tailEnd type="triangle"/>
          </a:ln>
        </p:spPr>
      </p:sp>
      <p:sp>
        <p:nvSpPr>
          <p:cNvPr id="41" name="Shape 39"/>
          <p:cNvSpPr/>
          <p:nvPr/>
        </p:nvSpPr>
        <p:spPr>
          <a:xfrm>
            <a:off x="4416552" y="2034540"/>
            <a:ext cx="310896" cy="0"/>
          </a:xfrm>
          <a:prstGeom prst="line">
            <a:avLst/>
          </a:prstGeom>
          <a:noFill/>
          <a:ln w="25400">
            <a:solidFill>
              <a:srgbClr val="5B6B7A"/>
            </a:solidFill>
            <a:prstDash val="solid"/>
            <a:tailEnd type="triangle"/>
          </a:ln>
        </p:spPr>
      </p:sp>
      <p:sp>
        <p:nvSpPr>
          <p:cNvPr id="42" name="Shape 40"/>
          <p:cNvSpPr/>
          <p:nvPr/>
        </p:nvSpPr>
        <p:spPr>
          <a:xfrm>
            <a:off x="6565392" y="2034540"/>
            <a:ext cx="310896" cy="0"/>
          </a:xfrm>
          <a:prstGeom prst="line">
            <a:avLst/>
          </a:prstGeom>
          <a:noFill/>
          <a:ln w="25400">
            <a:solidFill>
              <a:srgbClr val="5B6B7A"/>
            </a:solidFill>
            <a:prstDash val="solid"/>
            <a:tailEnd type="triangle"/>
          </a:ln>
        </p:spPr>
      </p:sp>
      <p:sp>
        <p:nvSpPr>
          <p:cNvPr id="43" name="Shape 41"/>
          <p:cNvSpPr/>
          <p:nvPr/>
        </p:nvSpPr>
        <p:spPr>
          <a:xfrm>
            <a:off x="7795260" y="2496312"/>
            <a:ext cx="0" cy="493776"/>
          </a:xfrm>
          <a:prstGeom prst="line">
            <a:avLst/>
          </a:prstGeom>
          <a:noFill/>
          <a:ln w="25400">
            <a:solidFill>
              <a:srgbClr val="5B6B7A"/>
            </a:solidFill>
            <a:prstDash val="solid"/>
            <a:tailEnd type="triangle"/>
          </a:ln>
        </p:spPr>
      </p:sp>
      <p:sp>
        <p:nvSpPr>
          <p:cNvPr id="44" name="Shape 42"/>
          <p:cNvSpPr/>
          <p:nvPr/>
        </p:nvSpPr>
        <p:spPr>
          <a:xfrm flipH="1">
            <a:off x="6565392" y="3451860"/>
            <a:ext cx="310896" cy="0"/>
          </a:xfrm>
          <a:prstGeom prst="line">
            <a:avLst/>
          </a:prstGeom>
          <a:noFill/>
          <a:ln w="25400">
            <a:solidFill>
              <a:srgbClr val="5B6B7A"/>
            </a:solidFill>
            <a:prstDash val="solid"/>
            <a:tailEnd type="triangle"/>
          </a:ln>
        </p:spPr>
      </p:sp>
      <p:sp>
        <p:nvSpPr>
          <p:cNvPr id="45" name="Shape 43"/>
          <p:cNvSpPr/>
          <p:nvPr/>
        </p:nvSpPr>
        <p:spPr>
          <a:xfrm flipH="1">
            <a:off x="4416552" y="3451860"/>
            <a:ext cx="310896" cy="0"/>
          </a:xfrm>
          <a:prstGeom prst="line">
            <a:avLst/>
          </a:prstGeom>
          <a:noFill/>
          <a:ln w="25400">
            <a:solidFill>
              <a:srgbClr val="5B6B7A"/>
            </a:solidFill>
            <a:prstDash val="solid"/>
            <a:tailEnd type="triangle"/>
          </a:ln>
        </p:spPr>
      </p:sp>
      <p:sp>
        <p:nvSpPr>
          <p:cNvPr id="46" name="Shape 44"/>
          <p:cNvSpPr/>
          <p:nvPr/>
        </p:nvSpPr>
        <p:spPr>
          <a:xfrm flipH="1">
            <a:off x="2267712" y="3451860"/>
            <a:ext cx="310896" cy="0"/>
          </a:xfrm>
          <a:prstGeom prst="line">
            <a:avLst/>
          </a:prstGeom>
          <a:noFill/>
          <a:ln w="25400">
            <a:solidFill>
              <a:srgbClr val="5B6B7A"/>
            </a:solidFill>
            <a:prstDash val="solid"/>
            <a:tailEnd type="triangle"/>
          </a:ln>
        </p:spPr>
      </p:sp>
      <p:sp>
        <p:nvSpPr>
          <p:cNvPr id="47" name="Shape 45"/>
          <p:cNvSpPr/>
          <p:nvPr/>
        </p:nvSpPr>
        <p:spPr>
          <a:xfrm>
            <a:off x="6903720" y="4114800"/>
            <a:ext cx="1783080" cy="685800"/>
          </a:xfrm>
          <a:prstGeom prst="roundRect">
            <a:avLst>
              <a:gd name="adj" fmla="val 16000"/>
            </a:avLst>
          </a:prstGeom>
          <a:solidFill>
            <a:srgbClr val="F4A259"/>
          </a:solidFill>
          <a:ln/>
        </p:spPr>
      </p:sp>
      <p:sp>
        <p:nvSpPr>
          <p:cNvPr id="48" name="Text 46"/>
          <p:cNvSpPr txBox="1"/>
          <p:nvPr/>
        </p:nvSpPr>
        <p:spPr>
          <a:xfrm>
            <a:off x="6995160" y="4114800"/>
            <a:ext cx="1600200" cy="685800"/>
          </a:xfrm>
          <a:prstGeom prst="rect">
            <a:avLst/>
          </a:prstGeom>
          <a:noFill/>
          <a:ln/>
        </p:spPr>
        <p:txBody>
          <a:bodyPr wrap="square" lIns="0" tIns="0" rIns="0" bIns="0" rtlCol="0" anchor="ctr"/>
          <a:lstStyle/>
          <a:p>
            <a:pPr algn="ctr" indent="0" marL="0">
              <a:buNone/>
            </a:pPr>
            <a:r>
              <a:rPr lang="en-US" sz="1100" b="1" dirty="0">
                <a:solidFill>
                  <a:srgbClr val="0F2A43"/>
                </a:solidFill>
                <a:latin typeface="Calibri" pitchFamily="34" charset="0"/>
                <a:ea typeface="Calibri" pitchFamily="34" charset="-122"/>
                <a:cs typeface="Calibri" pitchFamily="34" charset="-120"/>
              </a:rPr>
              <a:t>Not enough battery? Fly to depot, recharge, continue</a:t>
            </a:r>
            <a:endParaRPr lang="en-US" sz="1100" dirty="0"/>
          </a:p>
        </p:txBody>
      </p:sp>
      <p:sp>
        <p:nvSpPr>
          <p:cNvPr id="49" name="Shape 47"/>
          <p:cNvSpPr/>
          <p:nvPr/>
        </p:nvSpPr>
        <p:spPr>
          <a:xfrm flipV="1">
            <a:off x="7795260" y="3913632"/>
            <a:ext cx="0" cy="402336"/>
          </a:xfrm>
          <a:prstGeom prst="line">
            <a:avLst/>
          </a:prstGeom>
          <a:noFill/>
          <a:ln w="25400">
            <a:solidFill>
              <a:srgbClr val="5B6B7A"/>
            </a:solidFill>
            <a:prstDash val="solid"/>
            <a:tailEnd type="triangle"/>
          </a:ln>
        </p:spPr>
      </p:sp>
      <p:sp>
        <p:nvSpPr>
          <p:cNvPr id="50" name="Text 48"/>
          <p:cNvSpPr txBox="1"/>
          <p:nvPr/>
        </p:nvSpPr>
        <p:spPr>
          <a:xfrm>
            <a:off x="457200" y="4160520"/>
            <a:ext cx="5669280" cy="274320"/>
          </a:xfrm>
          <a:prstGeom prst="rect">
            <a:avLst/>
          </a:prstGeom>
          <a:noFill/>
          <a:ln/>
        </p:spPr>
        <p:txBody>
          <a:bodyPr wrap="square" lIns="0" tIns="0" rIns="0" bIns="0" rtlCol="0" anchor="ctr"/>
          <a:lstStyle/>
          <a:p>
            <a:pPr indent="0" marL="0">
              <a:buNone/>
            </a:pPr>
            <a:r>
              <a:rPr lang="en-US" sz="1300" i="1" dirty="0">
                <a:solidFill>
                  <a:srgbClr val="5B6B7A"/>
                </a:solidFill>
                <a:latin typeface="Calibri" pitchFamily="34" charset="0"/>
                <a:ea typeface="Calibri" pitchFamily="34" charset="-122"/>
                <a:cs typeface="Calibri" pitchFamily="34" charset="-120"/>
              </a:rPr>
              <a:t>Steps 5 to 7 repeat for every stop in the ordered list.</a:t>
            </a:r>
            <a:endParaRPr lang="en-US" sz="1300" dirty="0"/>
          </a:p>
        </p:txBody>
      </p:sp>
      <p:sp>
        <p:nvSpPr>
          <p:cNvPr id="51" name="Text 49"/>
          <p:cNvSpPr txBox="1"/>
          <p:nvPr/>
        </p:nvSpPr>
        <p:spPr>
          <a:xfrm>
            <a:off x="457200" y="4480560"/>
            <a:ext cx="5669280" cy="274320"/>
          </a:xfrm>
          <a:prstGeom prst="rect">
            <a:avLst/>
          </a:prstGeom>
          <a:noFill/>
          <a:ln/>
        </p:spPr>
        <p:txBody>
          <a:bodyPr wrap="square" lIns="0" tIns="0" rIns="0" bIns="0" rtlCol="0" anchor="ctr"/>
          <a:lstStyle/>
          <a:p>
            <a:pPr indent="0" marL="0">
              <a:buNone/>
            </a:pPr>
            <a:r>
              <a:rPr lang="en-US" sz="1100" dirty="0">
                <a:solidFill>
                  <a:srgbClr val="5B6B7A"/>
                </a:solidFill>
                <a:latin typeface="Calibri" pitchFamily="34" charset="0"/>
                <a:ea typeface="Calibri" pitchFamily="34" charset="-122"/>
                <a:cs typeface="Calibri" pitchFamily="34" charset="-120"/>
              </a:rPr>
              <a:t>Code: delivery_planner.py (1-4), simulation.py and drone.py (5-8), astar.py (6)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Simulation: Route Visualization</a:t>
            </a:r>
            <a:endParaRPr lang="en-US" sz="3000" dirty="0"/>
          </a:p>
        </p:txBody>
      </p:sp>
      <p:sp>
        <p:nvSpPr>
          <p:cNvPr id="3" name="Shape 1"/>
          <p:cNvSpPr/>
          <p:nvPr/>
        </p:nvSpPr>
        <p:spPr>
          <a:xfrm>
            <a:off x="457200" y="886968"/>
            <a:ext cx="640080" cy="274320"/>
          </a:xfrm>
          <a:prstGeom prst="roundRect">
            <a:avLst>
              <a:gd name="adj" fmla="val 50000"/>
            </a:avLst>
          </a:prstGeom>
          <a:solidFill>
            <a:srgbClr val="17A398"/>
          </a:solidFill>
          <a:ln/>
        </p:spPr>
      </p:sp>
      <p:sp>
        <p:nvSpPr>
          <p:cNvPr id="4" name="Text 2"/>
          <p:cNvSpPr txBox="1"/>
          <p:nvPr/>
        </p:nvSpPr>
        <p:spPr>
          <a:xfrm>
            <a:off x="457200" y="886968"/>
            <a:ext cx="6400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a:t>
            </a:r>
            <a:endParaRPr lang="en-US" sz="1100" dirty="0"/>
          </a:p>
        </p:txBody>
      </p:sp>
      <p:sp>
        <p:nvSpPr>
          <p:cNvPr id="5" name="Text 3"/>
          <p:cNvSpPr txBox="1"/>
          <p:nvPr/>
        </p:nvSpPr>
        <p:spPr>
          <a:xfrm>
            <a:off x="1234440" y="886968"/>
            <a:ext cx="713232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Real output from our simulator</a:t>
            </a:r>
            <a:endParaRPr lang="en-US" sz="1400" dirty="0"/>
          </a:p>
        </p:txBody>
      </p:sp>
      <p:pic>
        <p:nvPicPr>
          <p:cNvPr id="6" name="Image 0" descr="/home/claude/project/results/figures/fig1_route_recharge_demo.png">    </p:cNvPr>
          <p:cNvPicPr>
            <a:picLocks noChangeAspect="1"/>
          </p:cNvPicPr>
          <p:nvPr/>
        </p:nvPicPr>
        <p:blipFill>
          <a:blip r:embed="rId1"/>
          <a:stretch>
            <a:fillRect/>
          </a:stretch>
        </p:blipFill>
        <p:spPr>
          <a:xfrm>
            <a:off x="791490" y="1280160"/>
            <a:ext cx="2897579" cy="2743200"/>
          </a:xfrm>
          <a:prstGeom prst="rect">
            <a:avLst/>
          </a:prstGeom>
        </p:spPr>
      </p:pic>
      <p:sp>
        <p:nvSpPr>
          <p:cNvPr id="7" name="Text 4"/>
          <p:cNvSpPr txBox="1"/>
          <p:nvPr/>
        </p:nvSpPr>
        <p:spPr>
          <a:xfrm>
            <a:off x="457200" y="4069080"/>
            <a:ext cx="3566160" cy="77724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Recharge scenario: with 7 battery left and 19 needed for the next leg, the drone flew home, recharged and still delivered 3 of 3 packages (cost 62).</a:t>
            </a:r>
            <a:endParaRPr lang="en-US" sz="1150" dirty="0"/>
          </a:p>
        </p:txBody>
      </p:sp>
      <p:pic>
        <p:nvPicPr>
          <p:cNvPr id="8" name="Image 1" descr="/home/claude/project/results/figures/fig2b_wind_changes_route.png">    </p:cNvPr>
          <p:cNvPicPr>
            <a:picLocks noChangeAspect="1"/>
          </p:cNvPicPr>
          <p:nvPr/>
        </p:nvPicPr>
        <p:blipFill>
          <a:blip r:embed="rId2"/>
          <a:stretch>
            <a:fillRect/>
          </a:stretch>
        </p:blipFill>
        <p:spPr>
          <a:xfrm>
            <a:off x="4297680" y="1281185"/>
            <a:ext cx="4389120" cy="2649710"/>
          </a:xfrm>
          <a:prstGeom prst="rect">
            <a:avLst/>
          </a:prstGeom>
        </p:spPr>
      </p:pic>
      <p:sp>
        <p:nvSpPr>
          <p:cNvPr id="9" name="Text 5"/>
          <p:cNvSpPr txBox="1"/>
          <p:nvPr/>
        </p:nvSpPr>
        <p:spPr>
          <a:xfrm>
            <a:off x="4297680" y="4069080"/>
            <a:ext cx="4389120" cy="777240"/>
          </a:xfrm>
          <a:prstGeom prst="rect">
            <a:avLst/>
          </a:prstGeom>
          <a:noFill/>
          <a:ln/>
        </p:spPr>
        <p:txBody>
          <a:bodyPr wrap="square" lIns="0" tIns="0" rIns="0" bIns="0" rtlCol="0" anchor="t"/>
          <a:lstStyle/>
          <a:p>
            <a:pPr indent="0" marL="0">
              <a:buNone/>
            </a:pPr>
            <a:r>
              <a:rPr lang="en-US" sz="1150" dirty="0">
                <a:solidFill>
                  <a:srgbClr val="5B6B7A"/>
                </a:solidFill>
                <a:latin typeface="Calibri" pitchFamily="34" charset="0"/>
                <a:ea typeface="Calibri" pitchFamily="34" charset="-122"/>
                <a:cs typeface="Calibri" pitchFamily="34" charset="-120"/>
              </a:rPr>
              <a:t>Same delivery with and without wind: the drone goes around the headwind band on the way out and rides it as a tailwind on the way back. Total cost 20 instead of 16.</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0F2A43"/>
                </a:solidFill>
                <a:latin typeface="Cambria" pitchFamily="34" charset="0"/>
                <a:ea typeface="Cambria" pitchFamily="34" charset="-122"/>
                <a:cs typeface="Cambria" pitchFamily="34" charset="-120"/>
              </a:rPr>
              <a:t>Experimental Results + Metrics</a:t>
            </a:r>
            <a:endParaRPr lang="en-US" sz="3000" dirty="0"/>
          </a:p>
        </p:txBody>
      </p:sp>
      <p:sp>
        <p:nvSpPr>
          <p:cNvPr id="3" name="Shape 1"/>
          <p:cNvSpPr/>
          <p:nvPr/>
        </p:nvSpPr>
        <p:spPr>
          <a:xfrm>
            <a:off x="457200" y="886968"/>
            <a:ext cx="457200" cy="274320"/>
          </a:xfrm>
          <a:prstGeom prst="roundRect">
            <a:avLst>
              <a:gd name="adj" fmla="val 50000"/>
            </a:avLst>
          </a:prstGeom>
          <a:solidFill>
            <a:srgbClr val="17A398"/>
          </a:solidFill>
          <a:ln/>
        </p:spPr>
      </p:sp>
      <p:sp>
        <p:nvSpPr>
          <p:cNvPr id="4" name="Text 2"/>
          <p:cNvSpPr txBox="1"/>
          <p:nvPr/>
        </p:nvSpPr>
        <p:spPr>
          <a:xfrm>
            <a:off x="457200" y="886968"/>
            <a:ext cx="4572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Q6</a:t>
            </a:r>
            <a:endParaRPr lang="en-US" sz="1100" dirty="0"/>
          </a:p>
        </p:txBody>
      </p:sp>
      <p:sp>
        <p:nvSpPr>
          <p:cNvPr id="5" name="Text 3"/>
          <p:cNvSpPr txBox="1"/>
          <p:nvPr/>
        </p:nvSpPr>
        <p:spPr>
          <a:xfrm>
            <a:off x="1051560" y="886968"/>
            <a:ext cx="7315200" cy="274320"/>
          </a:xfrm>
          <a:prstGeom prst="rect">
            <a:avLst/>
          </a:prstGeom>
          <a:noFill/>
          <a:ln/>
        </p:spPr>
        <p:txBody>
          <a:bodyPr wrap="square" lIns="0" tIns="0" rIns="0" bIns="0" rtlCol="0" anchor="ctr"/>
          <a:lstStyle/>
          <a:p>
            <a:pPr indent="0" marL="0">
              <a:buNone/>
            </a:pPr>
            <a:r>
              <a:rPr lang="en-US" sz="1400" i="1" dirty="0">
                <a:solidFill>
                  <a:srgbClr val="5B6B7A"/>
                </a:solidFill>
                <a:latin typeface="Calibri" pitchFamily="34" charset="0"/>
                <a:ea typeface="Calibri" pitchFamily="34" charset="-122"/>
                <a:cs typeface="Calibri" pitchFamily="34" charset="-120"/>
              </a:rPr>
              <a:t>How is performance measured?</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03120"/>
                <a:gridCol w="914400"/>
                <a:gridCol w="1005840"/>
                <a:gridCol w="1097280"/>
                <a:gridCol w="1005840"/>
                <a:gridCol w="1097280"/>
                <a:gridCol w="1005840"/>
              </a:tblGrid>
              <a:tr h="38404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2A4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Total mission cost</a:t>
                      </a:r>
                      <a:endParaRPr lang="en-US" sz="100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2A4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Deliveries completed</a:t>
                      </a:r>
                      <a:endParaRPr lang="en-US" sz="100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2A4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Avg delivery time (steps)</a:t>
                      </a:r>
                      <a:endParaRPr lang="en-US" sz="100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2A4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Path optimality gap</a:t>
                      </a:r>
                      <a:endParaRPr lang="en-US" sz="100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2A4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Computation time (ms)</a:t>
                      </a:r>
                      <a:endParaRPr lang="en-US" sz="100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2A43"/>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Battery violations</a:t>
                      </a:r>
                      <a:endParaRPr lang="en-US" sz="100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2A43"/>
                    </a:solidFill>
                  </a:tcPr>
                </a:tc>
              </a:tr>
              <a:tr h="246888">
                <a:tc>
                  <a:txBody>
                    <a:bodyPr/>
                    <a:lstStyle/>
                    <a:p>
                      <a:pPr algn="l" indent="0" marL="0">
                        <a:buNone/>
                      </a:pPr>
                      <a:r>
                        <a:rPr lang="en-US" sz="1050" b="1" dirty="0">
                          <a:solidFill>
                            <a:srgbClr val="0F2A43"/>
                          </a:solidFill>
                          <a:latin typeface="Calibri" pitchFamily="34" charset="0"/>
                          <a:ea typeface="Calibri" pitchFamily="34" charset="-122"/>
                          <a:cs typeface="Calibri" pitchFamily="34" charset="-120"/>
                        </a:rPr>
                        <a:t>Small grid, little wind</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2 / 2</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23.0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246888">
                <a:tc>
                  <a:txBody>
                    <a:bodyPr/>
                    <a:lstStyle/>
                    <a:p>
                      <a:pPr algn="l" indent="0" marL="0">
                        <a:buNone/>
                      </a:pPr>
                      <a:r>
                        <a:rPr lang="en-US" sz="1050" b="1" dirty="0">
                          <a:solidFill>
                            <a:srgbClr val="0F2A43"/>
                          </a:solidFill>
                          <a:latin typeface="Calibri" pitchFamily="34" charset="0"/>
                          <a:ea typeface="Calibri" pitchFamily="34" charset="-122"/>
                          <a:cs typeface="Calibri" pitchFamily="34" charset="-120"/>
                        </a:rPr>
                        <a:t>Medium grid, moderate wind</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74</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3 / 3</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38.3</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246888">
                <a:tc>
                  <a:txBody>
                    <a:bodyPr/>
                    <a:lstStyle/>
                    <a:p>
                      <a:pPr algn="l" indent="0" marL="0">
                        <a:buNone/>
                      </a:pPr>
                      <a:r>
                        <a:rPr lang="en-US" sz="1050" b="1" dirty="0">
                          <a:solidFill>
                            <a:srgbClr val="0F2A43"/>
                          </a:solidFill>
                          <a:latin typeface="Calibri" pitchFamily="34" charset="0"/>
                          <a:ea typeface="Calibri" pitchFamily="34" charset="-122"/>
                          <a:cs typeface="Calibri" pitchFamily="34" charset="-120"/>
                        </a:rPr>
                        <a:t>Multiple deliveries (4)</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86</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4 / 4</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50.5</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11.7</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246888">
                <a:tc>
                  <a:txBody>
                    <a:bodyPr/>
                    <a:lstStyle/>
                    <a:p>
                      <a:pPr algn="l" indent="0" marL="0">
                        <a:buNone/>
                      </a:pPr>
                      <a:r>
                        <a:rPr lang="en-US" sz="1050" b="1" dirty="0">
                          <a:solidFill>
                            <a:srgbClr val="0F2A43"/>
                          </a:solidFill>
                          <a:latin typeface="Calibri" pitchFamily="34" charset="0"/>
                          <a:ea typeface="Calibri" pitchFamily="34" charset="-122"/>
                          <a:cs typeface="Calibri" pitchFamily="34" charset="-120"/>
                        </a:rPr>
                        <a:t>Wind changes the route</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1 / 1</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246888">
                <a:tc>
                  <a:txBody>
                    <a:bodyPr/>
                    <a:lstStyle/>
                    <a:p>
                      <a:pPr algn="l" indent="0" marL="0">
                        <a:buNone/>
                      </a:pPr>
                      <a:r>
                        <a:rPr lang="en-US" sz="1050" b="1" dirty="0">
                          <a:solidFill>
                            <a:srgbClr val="0F2A43"/>
                          </a:solidFill>
                          <a:latin typeface="Calibri" pitchFamily="34" charset="0"/>
                          <a:ea typeface="Calibri" pitchFamily="34" charset="-122"/>
                          <a:cs typeface="Calibri" pitchFamily="34" charset="-120"/>
                        </a:rPr>
                        <a:t>Small battery, recharge</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3 / 3</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ctr" indent="0" marL="0">
                        <a:buNone/>
                      </a:pPr>
                      <a:r>
                        <a:rPr lang="en-US" sz="1050" dirty="0">
                          <a:solidFill>
                            <a:srgbClr val="2B3A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0" marB="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pic>
        <p:nvPicPr>
          <p:cNvPr id="7" name="Image 0" descr="/home/claude/project/results/figures/fig3_astar_vs_ucs.png">    </p:cNvPr>
          <p:cNvPicPr>
            <a:picLocks noChangeAspect="1"/>
          </p:cNvPicPr>
          <p:nvPr/>
        </p:nvPicPr>
        <p:blipFill>
          <a:blip r:embed="rId1"/>
          <a:stretch>
            <a:fillRect/>
          </a:stretch>
        </p:blipFill>
        <p:spPr>
          <a:xfrm>
            <a:off x="683139" y="3017520"/>
            <a:ext cx="3480042" cy="2011680"/>
          </a:xfrm>
          <a:prstGeom prst="rect">
            <a:avLst/>
          </a:prstGeom>
        </p:spPr>
      </p:pic>
      <p:pic>
        <p:nvPicPr>
          <p:cNvPr id="8" name="Image 1" descr="/home/claude/project/results/figures/fig4_tour_comparison.png">    </p:cNvPr>
          <p:cNvPicPr>
            <a:picLocks noChangeAspect="1"/>
          </p:cNvPicPr>
          <p:nvPr/>
        </p:nvPicPr>
        <p:blipFill>
          <a:blip r:embed="rId2"/>
          <a:stretch>
            <a:fillRect/>
          </a:stretch>
        </p:blipFill>
        <p:spPr>
          <a:xfrm>
            <a:off x="5000725" y="3017520"/>
            <a:ext cx="3440230" cy="2011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3"/>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 Future Scope</a:t>
            </a:r>
            <a:endParaRPr lang="en-US" sz="3000" dirty="0"/>
          </a:p>
        </p:txBody>
      </p:sp>
      <p:sp>
        <p:nvSpPr>
          <p:cNvPr id="3" name="Shape 1"/>
          <p:cNvSpPr/>
          <p:nvPr/>
        </p:nvSpPr>
        <p:spPr>
          <a:xfrm>
            <a:off x="457200" y="1097280"/>
            <a:ext cx="2103120" cy="1280160"/>
          </a:xfrm>
          <a:prstGeom prst="roundRect">
            <a:avLst>
              <a:gd name="adj" fmla="val 8571"/>
            </a:avLst>
          </a:prstGeom>
          <a:solidFill>
            <a:srgbClr val="1B3F5E"/>
          </a:solidFill>
          <a:ln/>
        </p:spPr>
      </p:sp>
      <p:sp>
        <p:nvSpPr>
          <p:cNvPr id="4" name="Text 2"/>
          <p:cNvSpPr txBox="1"/>
          <p:nvPr/>
        </p:nvSpPr>
        <p:spPr>
          <a:xfrm>
            <a:off x="457200" y="1188720"/>
            <a:ext cx="2103120" cy="640080"/>
          </a:xfrm>
          <a:prstGeom prst="rect">
            <a:avLst/>
          </a:prstGeom>
          <a:noFill/>
          <a:ln/>
        </p:spPr>
        <p:txBody>
          <a:bodyPr wrap="square" lIns="0" tIns="0" rIns="0" bIns="0" rtlCol="0" anchor="ctr"/>
          <a:lstStyle/>
          <a:p>
            <a:pPr algn="ctr" indent="0" marL="0">
              <a:buNone/>
            </a:pPr>
            <a:r>
              <a:rPr lang="en-US" sz="3400" b="1" dirty="0">
                <a:solidFill>
                  <a:srgbClr val="F4A259"/>
                </a:solidFill>
                <a:latin typeface="Cambria" pitchFamily="34" charset="0"/>
                <a:ea typeface="Cambria" pitchFamily="34" charset="-122"/>
                <a:cs typeface="Cambria" pitchFamily="34" charset="-120"/>
              </a:rPr>
              <a:t>13/13</a:t>
            </a:r>
            <a:endParaRPr lang="en-US" sz="3400" dirty="0"/>
          </a:p>
        </p:txBody>
      </p:sp>
      <p:sp>
        <p:nvSpPr>
          <p:cNvPr id="5" name="Text 3"/>
          <p:cNvSpPr txBox="1"/>
          <p:nvPr/>
        </p:nvSpPr>
        <p:spPr>
          <a:xfrm>
            <a:off x="594360" y="1828800"/>
            <a:ext cx="1828800"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deliveries completed in all scenarios</a:t>
            </a:r>
            <a:endParaRPr lang="en-US" sz="1150" dirty="0"/>
          </a:p>
        </p:txBody>
      </p:sp>
      <p:sp>
        <p:nvSpPr>
          <p:cNvPr id="6" name="Shape 4"/>
          <p:cNvSpPr/>
          <p:nvPr/>
        </p:nvSpPr>
        <p:spPr>
          <a:xfrm>
            <a:off x="2697480" y="1097280"/>
            <a:ext cx="2103120" cy="1280160"/>
          </a:xfrm>
          <a:prstGeom prst="roundRect">
            <a:avLst>
              <a:gd name="adj" fmla="val 8571"/>
            </a:avLst>
          </a:prstGeom>
          <a:solidFill>
            <a:srgbClr val="1B3F5E"/>
          </a:solidFill>
          <a:ln/>
        </p:spPr>
      </p:sp>
      <p:sp>
        <p:nvSpPr>
          <p:cNvPr id="7" name="Text 5"/>
          <p:cNvSpPr txBox="1"/>
          <p:nvPr/>
        </p:nvSpPr>
        <p:spPr>
          <a:xfrm>
            <a:off x="2697480" y="1188720"/>
            <a:ext cx="2103120" cy="640080"/>
          </a:xfrm>
          <a:prstGeom prst="rect">
            <a:avLst/>
          </a:prstGeom>
          <a:noFill/>
          <a:ln/>
        </p:spPr>
        <p:txBody>
          <a:bodyPr wrap="square" lIns="0" tIns="0" rIns="0" bIns="0" rtlCol="0" anchor="ctr"/>
          <a:lstStyle/>
          <a:p>
            <a:pPr algn="ctr" indent="0" marL="0">
              <a:buNone/>
            </a:pPr>
            <a:r>
              <a:rPr lang="en-US" sz="3400" b="1" dirty="0">
                <a:solidFill>
                  <a:srgbClr val="F4A259"/>
                </a:solidFill>
                <a:latin typeface="Cambria" pitchFamily="34" charset="0"/>
                <a:ea typeface="Cambria" pitchFamily="34" charset="-122"/>
                <a:cs typeface="Cambria" pitchFamily="34" charset="-120"/>
              </a:rPr>
              <a:t>0</a:t>
            </a:r>
            <a:endParaRPr lang="en-US" sz="3400" dirty="0"/>
          </a:p>
        </p:txBody>
      </p:sp>
      <p:sp>
        <p:nvSpPr>
          <p:cNvPr id="8" name="Text 6"/>
          <p:cNvSpPr txBox="1"/>
          <p:nvPr/>
        </p:nvSpPr>
        <p:spPr>
          <a:xfrm>
            <a:off x="2834640" y="1828800"/>
            <a:ext cx="1828800"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battery violations</a:t>
            </a:r>
            <a:endParaRPr lang="en-US" sz="1150" dirty="0"/>
          </a:p>
        </p:txBody>
      </p:sp>
      <p:sp>
        <p:nvSpPr>
          <p:cNvPr id="9" name="Shape 7"/>
          <p:cNvSpPr/>
          <p:nvPr/>
        </p:nvSpPr>
        <p:spPr>
          <a:xfrm>
            <a:off x="457200" y="2514600"/>
            <a:ext cx="2103120" cy="1280160"/>
          </a:xfrm>
          <a:prstGeom prst="roundRect">
            <a:avLst>
              <a:gd name="adj" fmla="val 8571"/>
            </a:avLst>
          </a:prstGeom>
          <a:solidFill>
            <a:srgbClr val="1B3F5E"/>
          </a:solidFill>
          <a:ln/>
        </p:spPr>
      </p:sp>
      <p:sp>
        <p:nvSpPr>
          <p:cNvPr id="10" name="Text 8"/>
          <p:cNvSpPr txBox="1"/>
          <p:nvPr/>
        </p:nvSpPr>
        <p:spPr>
          <a:xfrm>
            <a:off x="457200" y="2606040"/>
            <a:ext cx="2103120" cy="640080"/>
          </a:xfrm>
          <a:prstGeom prst="rect">
            <a:avLst/>
          </a:prstGeom>
          <a:noFill/>
          <a:ln/>
        </p:spPr>
        <p:txBody>
          <a:bodyPr wrap="square" lIns="0" tIns="0" rIns="0" bIns="0" rtlCol="0" anchor="ctr"/>
          <a:lstStyle/>
          <a:p>
            <a:pPr algn="ctr" indent="0" marL="0">
              <a:buNone/>
            </a:pPr>
            <a:r>
              <a:rPr lang="en-US" sz="3400" b="1" dirty="0">
                <a:solidFill>
                  <a:srgbClr val="F4A259"/>
                </a:solidFill>
                <a:latin typeface="Cambria" pitchFamily="34" charset="0"/>
                <a:ea typeface="Cambria" pitchFamily="34" charset="-122"/>
                <a:cs typeface="Cambria" pitchFamily="34" charset="-120"/>
              </a:rPr>
              <a:t>0%</a:t>
            </a:r>
            <a:endParaRPr lang="en-US" sz="3400" dirty="0"/>
          </a:p>
        </p:txBody>
      </p:sp>
      <p:sp>
        <p:nvSpPr>
          <p:cNvPr id="11" name="Text 9"/>
          <p:cNvSpPr txBox="1"/>
          <p:nvPr/>
        </p:nvSpPr>
        <p:spPr>
          <a:xfrm>
            <a:off x="594360" y="3246120"/>
            <a:ext cx="1828800"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A* gap from the UCS optimum</a:t>
            </a:r>
            <a:endParaRPr lang="en-US" sz="1150" dirty="0"/>
          </a:p>
        </p:txBody>
      </p:sp>
      <p:sp>
        <p:nvSpPr>
          <p:cNvPr id="12" name="Shape 10"/>
          <p:cNvSpPr/>
          <p:nvPr/>
        </p:nvSpPr>
        <p:spPr>
          <a:xfrm>
            <a:off x="2697480" y="2514600"/>
            <a:ext cx="2103120" cy="1280160"/>
          </a:xfrm>
          <a:prstGeom prst="roundRect">
            <a:avLst>
              <a:gd name="adj" fmla="val 8571"/>
            </a:avLst>
          </a:prstGeom>
          <a:solidFill>
            <a:srgbClr val="1B3F5E"/>
          </a:solidFill>
          <a:ln/>
        </p:spPr>
      </p:sp>
      <p:sp>
        <p:nvSpPr>
          <p:cNvPr id="13" name="Text 11"/>
          <p:cNvSpPr txBox="1"/>
          <p:nvPr/>
        </p:nvSpPr>
        <p:spPr>
          <a:xfrm>
            <a:off x="2697480" y="2606040"/>
            <a:ext cx="2103120" cy="640080"/>
          </a:xfrm>
          <a:prstGeom prst="rect">
            <a:avLst/>
          </a:prstGeom>
          <a:noFill/>
          <a:ln/>
        </p:spPr>
        <p:txBody>
          <a:bodyPr wrap="square" lIns="0" tIns="0" rIns="0" bIns="0" rtlCol="0" anchor="ctr"/>
          <a:lstStyle/>
          <a:p>
            <a:pPr algn="ctr" indent="0" marL="0">
              <a:buNone/>
            </a:pPr>
            <a:r>
              <a:rPr lang="en-US" sz="3400" b="1" dirty="0">
                <a:solidFill>
                  <a:srgbClr val="F4A259"/>
                </a:solidFill>
                <a:latin typeface="Cambria" pitchFamily="34" charset="0"/>
                <a:ea typeface="Cambria" pitchFamily="34" charset="-122"/>
                <a:cs typeface="Cambria" pitchFamily="34" charset="-120"/>
              </a:rPr>
              <a:t>63%</a:t>
            </a:r>
            <a:endParaRPr lang="en-US" sz="3400" dirty="0"/>
          </a:p>
        </p:txBody>
      </p:sp>
      <p:sp>
        <p:nvSpPr>
          <p:cNvPr id="14" name="Text 12"/>
          <p:cNvSpPr txBox="1"/>
          <p:nvPr/>
        </p:nvSpPr>
        <p:spPr>
          <a:xfrm>
            <a:off x="2834640" y="3246120"/>
            <a:ext cx="1828800" cy="45720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fewer nodes expanded by A* than UCS</a:t>
            </a:r>
            <a:endParaRPr lang="en-US" sz="1150" dirty="0"/>
          </a:p>
        </p:txBody>
      </p:sp>
      <p:sp>
        <p:nvSpPr>
          <p:cNvPr id="15" name="Text 13"/>
          <p:cNvSpPr txBox="1"/>
          <p:nvPr/>
        </p:nvSpPr>
        <p:spPr>
          <a:xfrm>
            <a:off x="457200" y="3977640"/>
            <a:ext cx="4343400" cy="914400"/>
          </a:xfrm>
          <a:prstGeom prst="rect">
            <a:avLst/>
          </a:prstGeom>
          <a:noFill/>
          <a:ln/>
        </p:spPr>
        <p:txBody>
          <a:bodyPr wrap="square" lIns="0" tIns="0" rIns="0" bIns="0" rtlCol="0" anchor="t"/>
          <a:lstStyle/>
          <a:p>
            <a:pPr indent="0" marL="0">
              <a:buNone/>
            </a:pPr>
            <a:r>
              <a:rPr lang="en-US" sz="1200" dirty="0">
                <a:solidFill>
                  <a:srgbClr val="BFD4E4"/>
                </a:solidFill>
                <a:latin typeface="Calibri" pitchFamily="34" charset="0"/>
                <a:ea typeface="Calibri" pitchFamily="34" charset="-122"/>
                <a:cs typeface="Calibri" pitchFamily="34" charset="-120"/>
              </a:rPr>
              <a:t>A classical agent with search and simple heuristics handled wind, no-fly zones, multiple deliveries and battery limits. Nearest Neighbor + 2-opt matched the best order in 4 of 5 scenarios and was 5.7% above it in the other.</a:t>
            </a:r>
            <a:endParaRPr lang="en-US" sz="1200" dirty="0"/>
          </a:p>
        </p:txBody>
      </p:sp>
      <p:sp>
        <p:nvSpPr>
          <p:cNvPr id="16" name="Shape 14"/>
          <p:cNvSpPr/>
          <p:nvPr/>
        </p:nvSpPr>
        <p:spPr>
          <a:xfrm>
            <a:off x="5120640" y="1097280"/>
            <a:ext cx="3566160" cy="3749040"/>
          </a:xfrm>
          <a:prstGeom prst="roundRect">
            <a:avLst>
              <a:gd name="adj" fmla="val 3077"/>
            </a:avLst>
          </a:prstGeom>
          <a:solidFill>
            <a:srgbClr val="FFFFFF"/>
          </a:solidFill>
          <a:ln/>
        </p:spPr>
      </p:sp>
      <p:sp>
        <p:nvSpPr>
          <p:cNvPr id="17" name="Text 15"/>
          <p:cNvSpPr txBox="1"/>
          <p:nvPr/>
        </p:nvSpPr>
        <p:spPr>
          <a:xfrm>
            <a:off x="5349240" y="1188720"/>
            <a:ext cx="3108960" cy="411480"/>
          </a:xfrm>
          <a:prstGeom prst="rect">
            <a:avLst/>
          </a:prstGeom>
          <a:noFill/>
          <a:ln/>
        </p:spPr>
        <p:txBody>
          <a:bodyPr wrap="square" lIns="0" tIns="0" rIns="0" bIns="0" rtlCol="0" anchor="ctr"/>
          <a:lstStyle/>
          <a:p>
            <a:pPr indent="0" marL="0">
              <a:buNone/>
            </a:pPr>
            <a:r>
              <a:rPr lang="en-US" sz="2000" b="1" dirty="0">
                <a:solidFill>
                  <a:srgbClr val="0F2A43"/>
                </a:solidFill>
                <a:latin typeface="Cambria" pitchFamily="34" charset="0"/>
                <a:ea typeface="Cambria" pitchFamily="34" charset="-122"/>
                <a:cs typeface="Cambria" pitchFamily="34" charset="-120"/>
              </a:rPr>
              <a:t>Future scope</a:t>
            </a:r>
            <a:endParaRPr lang="en-US" sz="2000" dirty="0"/>
          </a:p>
        </p:txBody>
      </p:sp>
      <p:sp>
        <p:nvSpPr>
          <p:cNvPr id="18" name="Text 16"/>
          <p:cNvSpPr txBox="1"/>
          <p:nvPr/>
        </p:nvSpPr>
        <p:spPr>
          <a:xfrm>
            <a:off x="5349240" y="1691640"/>
            <a:ext cx="315468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3A47"/>
                </a:solidFill>
                <a:latin typeface="Calibri" pitchFamily="34" charset="0"/>
                <a:ea typeface="Calibri" pitchFamily="34" charset="-122"/>
                <a:cs typeface="Calibri" pitchFamily="34" charset="-120"/>
              </a:rPr>
              <a:t>Wind that changes during the mission, with sensors that detect unexpected obstacles</a:t>
            </a:r>
            <a:endParaRPr lang="en-US" sz="1300" dirty="0"/>
          </a:p>
          <a:p>
            <a:pPr marL="342900" indent="-342900">
              <a:spcAft>
                <a:spcPts val="800"/>
              </a:spcAft>
              <a:buSzPct val="100000"/>
              <a:buChar char="•"/>
            </a:pPr>
            <a:r>
              <a:rPr lang="en-US" sz="1300" dirty="0">
                <a:solidFill>
                  <a:srgbClr val="2B3A47"/>
                </a:solidFill>
                <a:latin typeface="Calibri" pitchFamily="34" charset="0"/>
                <a:ea typeface="Calibri" pitchFamily="34" charset="-122"/>
                <a:cs typeface="Calibri" pitchFamily="34" charset="-120"/>
              </a:rPr>
              <a:t>Delivery priorities and time windows</a:t>
            </a:r>
            <a:endParaRPr lang="en-US" sz="1300" dirty="0"/>
          </a:p>
          <a:p>
            <a:pPr marL="342900" indent="-342900">
              <a:spcAft>
                <a:spcPts val="800"/>
              </a:spcAft>
              <a:buSzPct val="100000"/>
              <a:buChar char="•"/>
            </a:pPr>
            <a:r>
              <a:rPr lang="en-US" sz="1300" dirty="0">
                <a:solidFill>
                  <a:srgbClr val="2B3A47"/>
                </a:solidFill>
                <a:latin typeface="Calibri" pitchFamily="34" charset="0"/>
                <a:ea typeface="Calibri" pitchFamily="34" charset="-122"/>
                <a:cs typeface="Calibri" pitchFamily="34" charset="-120"/>
              </a:rPr>
              <a:t>Package capacity and several drones</a:t>
            </a:r>
            <a:endParaRPr lang="en-US" sz="1300" dirty="0"/>
          </a:p>
          <a:p>
            <a:pPr marL="342900" indent="-342900">
              <a:spcAft>
                <a:spcPts val="800"/>
              </a:spcAft>
              <a:buSzPct val="100000"/>
              <a:buChar char="•"/>
            </a:pPr>
            <a:r>
              <a:rPr lang="en-US" sz="1300" dirty="0">
                <a:solidFill>
                  <a:srgbClr val="2B3A47"/>
                </a:solidFill>
                <a:latin typeface="Calibri" pitchFamily="34" charset="0"/>
                <a:ea typeface="Calibri" pitchFamily="34" charset="-122"/>
                <a:cs typeface="Calibri" pitchFamily="34" charset="-120"/>
              </a:rPr>
              <a:t>A 3D airspace with altitude</a:t>
            </a:r>
            <a:endParaRPr lang="en-US" sz="1300" dirty="0"/>
          </a:p>
          <a:p>
            <a:pPr marL="342900" indent="-342900">
              <a:spcAft>
                <a:spcPts val="800"/>
              </a:spcAft>
              <a:buSzPct val="100000"/>
              <a:buChar char="•"/>
            </a:pPr>
            <a:r>
              <a:rPr lang="en-US" sz="1300" dirty="0">
                <a:solidFill>
                  <a:srgbClr val="2B3A47"/>
                </a:solidFill>
                <a:latin typeface="Calibri" pitchFamily="34" charset="0"/>
                <a:ea typeface="Calibri" pitchFamily="34" charset="-122"/>
                <a:cs typeface="Calibri" pitchFamily="34" charset="-120"/>
              </a:rPr>
              <a:t>Stronger tour search than 2-opt for larger missions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Delivery Drone Agent</dc:title>
  <dc:subject>PptxGenJS Presentation</dc:subject>
  <dc:creator>Team 2_brain_cells</dc:creator>
  <cp:lastModifiedBy>Team 2_brain_cells</cp:lastModifiedBy>
  <cp:revision>1</cp:revision>
  <dcterms:created xsi:type="dcterms:W3CDTF">2026-10-01T14:50:12Z</dcterms:created>
  <dcterms:modified xsi:type="dcterms:W3CDTF">2026-10-01T14:50:12Z</dcterms:modified>
</cp:coreProperties>
</file>